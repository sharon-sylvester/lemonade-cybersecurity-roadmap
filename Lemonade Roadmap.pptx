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Raleway"/>
      <p:regular r:id="rId19"/>
      <p:bold r:id="rId20"/>
      <p:italic r:id="rId21"/>
      <p:boldItalic r:id="rId22"/>
    </p:embeddedFont>
    <p:embeddedFont>
      <p:font typeface="Montserrat SemiBold"/>
      <p:regular r:id="rId23"/>
      <p:bold r:id="rId24"/>
      <p:italic r:id="rId25"/>
      <p:boldItalic r:id="rId26"/>
    </p:embeddedFont>
    <p:embeddedFont>
      <p:font typeface="Lato"/>
      <p:regular r:id="rId27"/>
      <p:bold r:id="rId28"/>
      <p:italic r:id="rId29"/>
      <p:boldItalic r:id="rId30"/>
    </p:embeddedFont>
    <p:embeddedFont>
      <p:font typeface="Montserrat"/>
      <p:regular r:id="rId31"/>
      <p:bold r:id="rId32"/>
      <p:italic r:id="rId33"/>
      <p:boldItalic r:id="rId34"/>
    </p:embeddedFont>
    <p:embeddedFont>
      <p:font typeface="Montserrat Medium"/>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MontserratSemiBold-bold.fntdata"/><Relationship Id="rId23" Type="http://schemas.openxmlformats.org/officeDocument/2006/relationships/font" Target="fonts/MontserratSemiBold-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MontserratSemiBold-boldItalic.fntdata"/><Relationship Id="rId25" Type="http://schemas.openxmlformats.org/officeDocument/2006/relationships/font" Target="fonts/MontserratSemiBold-italic.fntdata"/><Relationship Id="rId28" Type="http://schemas.openxmlformats.org/officeDocument/2006/relationships/font" Target="fonts/Lato-bold.fntdata"/><Relationship Id="rId27" Type="http://schemas.openxmlformats.org/officeDocument/2006/relationships/font" Target="fonts/Lato-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Lat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regular.fntdata"/><Relationship Id="rId30" Type="http://schemas.openxmlformats.org/officeDocument/2006/relationships/font" Target="fonts/Lato-boldItalic.fntdata"/><Relationship Id="rId11" Type="http://schemas.openxmlformats.org/officeDocument/2006/relationships/slide" Target="slides/slide5.xml"/><Relationship Id="rId33" Type="http://schemas.openxmlformats.org/officeDocument/2006/relationships/font" Target="fonts/Montserrat-italic.fntdata"/><Relationship Id="rId10" Type="http://schemas.openxmlformats.org/officeDocument/2006/relationships/slide" Target="slides/slide4.xml"/><Relationship Id="rId32" Type="http://schemas.openxmlformats.org/officeDocument/2006/relationships/font" Target="fonts/Montserrat-bold.fntdata"/><Relationship Id="rId13" Type="http://schemas.openxmlformats.org/officeDocument/2006/relationships/slide" Target="slides/slide7.xml"/><Relationship Id="rId35" Type="http://schemas.openxmlformats.org/officeDocument/2006/relationships/font" Target="fonts/MontserratMedium-regular.fntdata"/><Relationship Id="rId12" Type="http://schemas.openxmlformats.org/officeDocument/2006/relationships/slide" Target="slides/slide6.xml"/><Relationship Id="rId34" Type="http://schemas.openxmlformats.org/officeDocument/2006/relationships/font" Target="fonts/Montserrat-boldItalic.fntdata"/><Relationship Id="rId15" Type="http://schemas.openxmlformats.org/officeDocument/2006/relationships/slide" Target="slides/slide9.xml"/><Relationship Id="rId37" Type="http://schemas.openxmlformats.org/officeDocument/2006/relationships/font" Target="fonts/MontserratMedium-italic.fntdata"/><Relationship Id="rId14" Type="http://schemas.openxmlformats.org/officeDocument/2006/relationships/slide" Target="slides/slide8.xml"/><Relationship Id="rId36" Type="http://schemas.openxmlformats.org/officeDocument/2006/relationships/font" Target="fonts/MontserratMedium-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MontserratMedium-boldItalic.fntdata"/><Relationship Id="rId19" Type="http://schemas.openxmlformats.org/officeDocument/2006/relationships/font" Target="fonts/Raleway-regular.fntdata"/><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c6fa3c898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c6fa3c8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6fa3c898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6fa3c89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1200"/>
              </a:spcBef>
              <a:spcAft>
                <a:spcPts val="120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f1ddd9b11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f1ddd9b11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We’ve identified that Protecting critical assets. Ensuring business continuity, Complying with industry regulations,</a:t>
            </a:r>
            <a:r>
              <a:rPr lang="en">
                <a:solidFill>
                  <a:schemeClr val="dk1"/>
                </a:solidFill>
              </a:rPr>
              <a:t> </a:t>
            </a:r>
            <a:r>
              <a:rPr b="1" lang="en">
                <a:solidFill>
                  <a:schemeClr val="dk1"/>
                </a:solidFill>
              </a:rPr>
              <a:t>Enhancing customer trust are your biggest concerns when it comes to Lemonade’s security posture. The following milestones will address each of these pain points.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0f193d1698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0f193d1698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Phase 1, Gap Analysis,January to March; Identify vulnerabilities, risks, and develop a prioritized roadmap.</a:t>
            </a:r>
            <a:endParaRPr/>
          </a:p>
          <a:p>
            <a:pPr indent="0" lvl="0" marL="0" rtl="0" algn="l">
              <a:spcBef>
                <a:spcPts val="0"/>
              </a:spcBef>
              <a:spcAft>
                <a:spcPts val="0"/>
              </a:spcAft>
              <a:buClr>
                <a:schemeClr val="dk1"/>
              </a:buClr>
              <a:buSzPts val="1100"/>
              <a:buFont typeface="Arial"/>
              <a:buNone/>
            </a:pPr>
            <a:r>
              <a:rPr lang="en"/>
              <a:t>Phase 2: Level up your team,April to June; cybersecurity awareness training, implement ongoing security training programs, and certify key personnel.</a:t>
            </a:r>
            <a:endParaRPr/>
          </a:p>
          <a:p>
            <a:pPr indent="0" lvl="0" marL="0" rtl="0" algn="l">
              <a:spcBef>
                <a:spcPts val="0"/>
              </a:spcBef>
              <a:spcAft>
                <a:spcPts val="0"/>
              </a:spcAft>
              <a:buClr>
                <a:schemeClr val="dk1"/>
              </a:buClr>
              <a:buSzPts val="1100"/>
              <a:buFont typeface="Arial"/>
              <a:buNone/>
            </a:pPr>
            <a:r>
              <a:rPr lang="en"/>
              <a:t>Phase 3: We hire contractor,July to September;Recruit, onboard, and integrate specialist, defining team role scope.</a:t>
            </a:r>
            <a:endParaRPr/>
          </a:p>
          <a:p>
            <a:pPr indent="0" lvl="0" marL="0" rtl="0" algn="l">
              <a:spcBef>
                <a:spcPts val="0"/>
              </a:spcBef>
              <a:spcAft>
                <a:spcPts val="0"/>
              </a:spcAft>
              <a:buClr>
                <a:schemeClr val="dk1"/>
              </a:buClr>
              <a:buSzPts val="1100"/>
              <a:buFont typeface="Arial"/>
              <a:buNone/>
            </a:pPr>
            <a:r>
              <a:rPr lang="en"/>
              <a:t>Phase 4: Implement advanced cyber systems,October to December; deploy,configure advanced security solutions, conduct regular security and penetration testing.</a:t>
            </a:r>
            <a:endParaRPr/>
          </a:p>
          <a:p>
            <a:pPr indent="0" lvl="0" marL="0" rtl="0" algn="l">
              <a:spcBef>
                <a:spcPts val="0"/>
              </a:spcBef>
              <a:spcAft>
                <a:spcPts val="0"/>
              </a:spcAft>
              <a:buNone/>
            </a:pPr>
            <a:r>
              <a:rPr lang="en"/>
              <a:t>Phase 5: Ongoing improvement;Continuous monitoring.</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c6fa3c898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c6fa3c89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Lato"/>
              <a:buChar char="●"/>
            </a:pPr>
            <a:r>
              <a:rPr lang="en" sz="1400">
                <a:solidFill>
                  <a:srgbClr val="262530"/>
                </a:solidFill>
                <a:highlight>
                  <a:schemeClr val="lt1"/>
                </a:highlight>
              </a:rPr>
              <a:t>Current Technical Support team will be trained to demonstrate NIST recommended security measures in their work</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0f193d169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0f193d169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0f193d16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0f193d16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0f193d169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0f193d169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c6fa3c898_0_7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c6fa3c898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Security implementation takes a bit longer than expected i.e. employees do not want to follow proper procedures.  Therefore, we need to train employees so that they better understand the importance of protecting information.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While working on each phase the team updates the stakeholder of regular progress. Provide stakeholders with access to Kanban board, so that they can provide regular inputs, so that we can adopt and modify changes as needed.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c6fa3c898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c6fa3c89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7500" lvl="0" marL="914400" rtl="0" algn="l">
              <a:lnSpc>
                <a:spcPct val="115000"/>
              </a:lnSpc>
              <a:spcBef>
                <a:spcPts val="0"/>
              </a:spcBef>
              <a:spcAft>
                <a:spcPts val="0"/>
              </a:spcAft>
              <a:buClr>
                <a:srgbClr val="262530"/>
              </a:buClr>
              <a:buSzPts val="1400"/>
              <a:buAutoNum type="arabicPeriod"/>
            </a:pPr>
            <a:r>
              <a:rPr b="1" lang="en" sz="1400">
                <a:solidFill>
                  <a:srgbClr val="262530"/>
                </a:solidFill>
                <a:highlight>
                  <a:srgbClr val="FFFFFF"/>
                </a:highlight>
              </a:rPr>
              <a:t>Phase 1, Gap Analysis,January to March; Identify vulnerabilities, risks, and develop a prioritized roadmap.</a:t>
            </a:r>
            <a:endParaRPr b="1" sz="1400">
              <a:solidFill>
                <a:srgbClr val="262530"/>
              </a:solidFill>
              <a:highlight>
                <a:srgbClr val="FFFFFF"/>
              </a:highlight>
            </a:endParaRPr>
          </a:p>
          <a:p>
            <a:pPr indent="-317500" lvl="0" marL="914400" rtl="0" algn="l">
              <a:lnSpc>
                <a:spcPct val="115000"/>
              </a:lnSpc>
              <a:spcBef>
                <a:spcPts val="0"/>
              </a:spcBef>
              <a:spcAft>
                <a:spcPts val="0"/>
              </a:spcAft>
              <a:buClr>
                <a:srgbClr val="262530"/>
              </a:buClr>
              <a:buSzPts val="1400"/>
              <a:buAutoNum type="arabicPeriod"/>
            </a:pPr>
            <a:r>
              <a:rPr b="1" lang="en" sz="1400">
                <a:solidFill>
                  <a:srgbClr val="262530"/>
                </a:solidFill>
                <a:highlight>
                  <a:srgbClr val="FFFFFF"/>
                </a:highlight>
              </a:rPr>
              <a:t>Phase 2: Level up your team,April to June; cybersecurity awareness training, implement ongoing security training programs, and certify key personnel.</a:t>
            </a:r>
            <a:endParaRPr b="1" sz="1400">
              <a:solidFill>
                <a:srgbClr val="262530"/>
              </a:solidFill>
              <a:highlight>
                <a:srgbClr val="FFFFFF"/>
              </a:highlight>
            </a:endParaRPr>
          </a:p>
          <a:p>
            <a:pPr indent="-317500" lvl="0" marL="914400" rtl="0" algn="l">
              <a:lnSpc>
                <a:spcPct val="115000"/>
              </a:lnSpc>
              <a:spcBef>
                <a:spcPts val="0"/>
              </a:spcBef>
              <a:spcAft>
                <a:spcPts val="0"/>
              </a:spcAft>
              <a:buClr>
                <a:srgbClr val="262530"/>
              </a:buClr>
              <a:buSzPts val="1400"/>
              <a:buAutoNum type="arabicPeriod"/>
            </a:pPr>
            <a:r>
              <a:rPr b="1" lang="en" sz="1400">
                <a:solidFill>
                  <a:srgbClr val="262530"/>
                </a:solidFill>
                <a:highlight>
                  <a:srgbClr val="FFFFFF"/>
                </a:highlight>
              </a:rPr>
              <a:t>Phase 3: We hire contractor,July to September;Recruit, onboard, and integrate specialist, defining team role scope.</a:t>
            </a:r>
            <a:endParaRPr b="1" sz="1400">
              <a:solidFill>
                <a:srgbClr val="262530"/>
              </a:solidFill>
              <a:highlight>
                <a:srgbClr val="FFFFFF"/>
              </a:highlight>
            </a:endParaRPr>
          </a:p>
          <a:p>
            <a:pPr indent="-317500" lvl="0" marL="914400" rtl="0" algn="l">
              <a:lnSpc>
                <a:spcPct val="115000"/>
              </a:lnSpc>
              <a:spcBef>
                <a:spcPts val="0"/>
              </a:spcBef>
              <a:spcAft>
                <a:spcPts val="0"/>
              </a:spcAft>
              <a:buClr>
                <a:srgbClr val="262530"/>
              </a:buClr>
              <a:buSzPts val="1400"/>
              <a:buAutoNum type="arabicPeriod"/>
            </a:pPr>
            <a:r>
              <a:rPr b="1" lang="en" sz="1400">
                <a:solidFill>
                  <a:srgbClr val="262530"/>
                </a:solidFill>
                <a:highlight>
                  <a:srgbClr val="FFFFFF"/>
                </a:highlight>
              </a:rPr>
              <a:t>Phase 4: Implement advanced cyber systems,October to December; deploy,configure advanced security solutions, conduct regular security and penetration testing.</a:t>
            </a:r>
            <a:endParaRPr b="1" sz="1400">
              <a:solidFill>
                <a:srgbClr val="262530"/>
              </a:solidFill>
              <a:highlight>
                <a:srgbClr val="FFFFFF"/>
              </a:highlight>
            </a:endParaRPr>
          </a:p>
          <a:p>
            <a:pPr indent="-317500" lvl="0" marL="914400" rtl="0" algn="l">
              <a:lnSpc>
                <a:spcPct val="115000"/>
              </a:lnSpc>
              <a:spcBef>
                <a:spcPts val="0"/>
              </a:spcBef>
              <a:spcAft>
                <a:spcPts val="0"/>
              </a:spcAft>
              <a:buClr>
                <a:srgbClr val="262530"/>
              </a:buClr>
              <a:buSzPts val="1400"/>
              <a:buAutoNum type="arabicPeriod"/>
            </a:pPr>
            <a:r>
              <a:rPr b="1" lang="en" sz="1400">
                <a:solidFill>
                  <a:srgbClr val="262530"/>
                </a:solidFill>
                <a:highlight>
                  <a:srgbClr val="FFFFFF"/>
                </a:highlight>
              </a:rPr>
              <a:t>Phase 5: Ongoing improvement;Continuous monitoring.</a:t>
            </a:r>
            <a:endParaRPr b="1" sz="1400">
              <a:solidFill>
                <a:srgbClr val="262530"/>
              </a:solidFill>
              <a:highlight>
                <a:srgbClr val="FFFFFF"/>
              </a:highlight>
            </a:endParaRPr>
          </a:p>
          <a:p>
            <a:pPr indent="-317500" lvl="0" marL="914400" rtl="0" algn="l">
              <a:lnSpc>
                <a:spcPct val="115000"/>
              </a:lnSpc>
              <a:spcBef>
                <a:spcPts val="0"/>
              </a:spcBef>
              <a:spcAft>
                <a:spcPts val="0"/>
              </a:spcAft>
              <a:buClr>
                <a:srgbClr val="262530"/>
              </a:buClr>
              <a:buSzPts val="1400"/>
              <a:buAutoNum type="arabicPeriod"/>
            </a:pPr>
            <a:r>
              <a:t/>
            </a:r>
            <a:endParaRPr b="1" sz="1400">
              <a:solidFill>
                <a:srgbClr val="262530"/>
              </a:solidFill>
              <a:highlight>
                <a:srgbClr val="FFFFFF"/>
              </a:highligh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c6fa3c898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c6fa3c89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b="1" lang="en">
                <a:solidFill>
                  <a:schemeClr val="dk1"/>
                </a:solidFill>
              </a:rPr>
              <a:t>We’ve identified that Protecting critical assets. Ensuring business continuity, Complying with industry regulations,</a:t>
            </a:r>
            <a:r>
              <a:rPr lang="en">
                <a:solidFill>
                  <a:schemeClr val="dk1"/>
                </a:solidFill>
              </a:rPr>
              <a:t> </a:t>
            </a:r>
            <a:r>
              <a:rPr b="1" lang="en">
                <a:solidFill>
                  <a:schemeClr val="dk1"/>
                </a:solidFill>
              </a:rPr>
              <a:t>Enhancing customer trust are your biggest concerns when it comes to Lemonade’s security </a:t>
            </a:r>
            <a:r>
              <a:rPr b="1" lang="en">
                <a:solidFill>
                  <a:schemeClr val="dk1"/>
                </a:solidFill>
              </a:rPr>
              <a:t>posture. The following milestones will address each of these pain points.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0f1ddd9b11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0f1ddd9b11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 name="Shape 71"/>
        <p:cNvGrpSpPr/>
        <p:nvPr/>
      </p:nvGrpSpPr>
      <p:grpSpPr>
        <a:xfrm>
          <a:off x="0" y="0"/>
          <a:ext cx="0" cy="0"/>
          <a:chOff x="0" y="0"/>
          <a:chExt cx="0" cy="0"/>
        </a:xfrm>
      </p:grpSpPr>
      <p:sp>
        <p:nvSpPr>
          <p:cNvPr id="72" name="Google Shape;72;p14"/>
          <p:cNvSpPr txBox="1"/>
          <p:nvPr>
            <p:ph type="ctrTitle"/>
          </p:nvPr>
        </p:nvSpPr>
        <p:spPr>
          <a:xfrm>
            <a:off x="717250" y="693600"/>
            <a:ext cx="5707200" cy="32043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3" name="Google Shape;73;p14"/>
          <p:cNvSpPr txBox="1"/>
          <p:nvPr>
            <p:ph idx="1" type="subTitle"/>
          </p:nvPr>
        </p:nvSpPr>
        <p:spPr>
          <a:xfrm>
            <a:off x="717250" y="3974100"/>
            <a:ext cx="57072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15"/>
          <p:cNvSpPr txBox="1"/>
          <p:nvPr>
            <p:ph type="title"/>
          </p:nvPr>
        </p:nvSpPr>
        <p:spPr>
          <a:xfrm>
            <a:off x="720000" y="2804275"/>
            <a:ext cx="6476700" cy="13434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50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76" name="Google Shape;76;p15"/>
          <p:cNvSpPr txBox="1"/>
          <p:nvPr>
            <p:ph hasCustomPrompt="1" idx="2" type="title"/>
          </p:nvPr>
        </p:nvSpPr>
        <p:spPr>
          <a:xfrm>
            <a:off x="720000" y="539500"/>
            <a:ext cx="2260200" cy="1343400"/>
          </a:xfrm>
          <a:prstGeom prst="rect">
            <a:avLst/>
          </a:prstGeom>
          <a:noFill/>
        </p:spPr>
        <p:txBody>
          <a:bodyPr anchorCtr="0" anchor="ctr" bIns="91425" lIns="91425" spcFirstLastPara="1" rIns="91425" wrap="square" tIns="91425">
            <a:noAutofit/>
          </a:bodyPr>
          <a:lstStyle>
            <a:lvl1pPr lvl="0">
              <a:spcBef>
                <a:spcPts val="0"/>
              </a:spcBef>
              <a:spcAft>
                <a:spcPts val="0"/>
              </a:spcAft>
              <a:buClr>
                <a:schemeClr val="lt1"/>
              </a:buClr>
              <a:buSzPts val="6000"/>
              <a:buNone/>
              <a:defRPr sz="6000"/>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77" name="Google Shape;77;p15"/>
          <p:cNvSpPr txBox="1"/>
          <p:nvPr>
            <p:ph idx="1" type="subTitle"/>
          </p:nvPr>
        </p:nvSpPr>
        <p:spPr>
          <a:xfrm>
            <a:off x="720000" y="4005498"/>
            <a:ext cx="6476700" cy="5985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8" name="Shape 78"/>
        <p:cNvGrpSpPr/>
        <p:nvPr/>
      </p:nvGrpSpPr>
      <p:grpSpPr>
        <a:xfrm>
          <a:off x="0" y="0"/>
          <a:ext cx="0" cy="0"/>
          <a:chOff x="0" y="0"/>
          <a:chExt cx="0" cy="0"/>
        </a:xfrm>
      </p:grpSpPr>
      <p:sp>
        <p:nvSpPr>
          <p:cNvPr id="79" name="Google Shape;79;p16"/>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Nunito Light"/>
              <a:buChar char="●"/>
              <a:defRPr/>
            </a:lvl1pPr>
            <a:lvl2pPr indent="-317500" lvl="1" marL="914400">
              <a:lnSpc>
                <a:spcPct val="100000"/>
              </a:lnSpc>
              <a:spcBef>
                <a:spcPts val="0"/>
              </a:spcBef>
              <a:spcAft>
                <a:spcPts val="0"/>
              </a:spcAft>
              <a:buSzPts val="1400"/>
              <a:buFont typeface="Nunito Light"/>
              <a:buChar char="○"/>
              <a:defRPr/>
            </a:lvl2pPr>
            <a:lvl3pPr indent="-317500" lvl="2" marL="1371600">
              <a:lnSpc>
                <a:spcPct val="100000"/>
              </a:lnSpc>
              <a:spcBef>
                <a:spcPts val="0"/>
              </a:spcBef>
              <a:spcAft>
                <a:spcPts val="0"/>
              </a:spcAft>
              <a:buSzPts val="1400"/>
              <a:buFont typeface="Nunito Light"/>
              <a:buChar char="■"/>
              <a:defRPr/>
            </a:lvl3pPr>
            <a:lvl4pPr indent="-317500" lvl="3" marL="1828800">
              <a:lnSpc>
                <a:spcPct val="100000"/>
              </a:lnSpc>
              <a:spcBef>
                <a:spcPts val="0"/>
              </a:spcBef>
              <a:spcAft>
                <a:spcPts val="0"/>
              </a:spcAft>
              <a:buSzPts val="1400"/>
              <a:buFont typeface="Nunito Light"/>
              <a:buChar char="●"/>
              <a:defRPr/>
            </a:lvl4pPr>
            <a:lvl5pPr indent="-317500" lvl="4" marL="2286000">
              <a:lnSpc>
                <a:spcPct val="100000"/>
              </a:lnSpc>
              <a:spcBef>
                <a:spcPts val="0"/>
              </a:spcBef>
              <a:spcAft>
                <a:spcPts val="0"/>
              </a:spcAft>
              <a:buSzPts val="1400"/>
              <a:buFont typeface="Nunito Light"/>
              <a:buChar char="○"/>
              <a:defRPr/>
            </a:lvl5pPr>
            <a:lvl6pPr indent="-317500" lvl="5" marL="2743200">
              <a:lnSpc>
                <a:spcPct val="100000"/>
              </a:lnSpc>
              <a:spcBef>
                <a:spcPts val="0"/>
              </a:spcBef>
              <a:spcAft>
                <a:spcPts val="0"/>
              </a:spcAft>
              <a:buSzPts val="1400"/>
              <a:buFont typeface="Nunito Light"/>
              <a:buChar char="■"/>
              <a:defRPr/>
            </a:lvl6pPr>
            <a:lvl7pPr indent="-317500" lvl="6" marL="3200400">
              <a:lnSpc>
                <a:spcPct val="100000"/>
              </a:lnSpc>
              <a:spcBef>
                <a:spcPts val="0"/>
              </a:spcBef>
              <a:spcAft>
                <a:spcPts val="0"/>
              </a:spcAft>
              <a:buSzPts val="1400"/>
              <a:buFont typeface="Nunito Light"/>
              <a:buChar char="●"/>
              <a:defRPr/>
            </a:lvl7pPr>
            <a:lvl8pPr indent="-317500" lvl="7" marL="3657600">
              <a:lnSpc>
                <a:spcPct val="100000"/>
              </a:lnSpc>
              <a:spcBef>
                <a:spcPts val="0"/>
              </a:spcBef>
              <a:spcAft>
                <a:spcPts val="0"/>
              </a:spcAft>
              <a:buSzPts val="1400"/>
              <a:buFont typeface="Nunito Light"/>
              <a:buChar char="○"/>
              <a:defRPr/>
            </a:lvl8pPr>
            <a:lvl9pPr indent="-317500" lvl="8" marL="4114800">
              <a:lnSpc>
                <a:spcPct val="100000"/>
              </a:lnSpc>
              <a:spcBef>
                <a:spcPts val="0"/>
              </a:spcBef>
              <a:spcAft>
                <a:spcPts val="0"/>
              </a:spcAft>
              <a:buSzPts val="1400"/>
              <a:buFont typeface="Nunito Light"/>
              <a:buChar char="■"/>
              <a:defRPr/>
            </a:lvl9pPr>
          </a:lstStyle>
          <a:p/>
        </p:txBody>
      </p:sp>
      <p:sp>
        <p:nvSpPr>
          <p:cNvPr id="80" name="Google Shape;80;p16"/>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81" name="Shape 81"/>
        <p:cNvGrpSpPr/>
        <p:nvPr/>
      </p:nvGrpSpPr>
      <p:grpSpPr>
        <a:xfrm>
          <a:off x="0" y="0"/>
          <a:ext cx="0" cy="0"/>
          <a:chOff x="0" y="0"/>
          <a:chExt cx="0" cy="0"/>
        </a:xfrm>
      </p:grpSpPr>
      <p:sp>
        <p:nvSpPr>
          <p:cNvPr id="82" name="Google Shape;82;p17"/>
          <p:cNvSpPr txBox="1"/>
          <p:nvPr>
            <p:ph idx="1" type="subTitle"/>
          </p:nvPr>
        </p:nvSpPr>
        <p:spPr>
          <a:xfrm>
            <a:off x="5055279" y="2389551"/>
            <a:ext cx="2505600" cy="1197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83" name="Google Shape;83;p17"/>
          <p:cNvSpPr txBox="1"/>
          <p:nvPr>
            <p:ph idx="2" type="subTitle"/>
          </p:nvPr>
        </p:nvSpPr>
        <p:spPr>
          <a:xfrm>
            <a:off x="1583300" y="2389551"/>
            <a:ext cx="2505600" cy="1197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b="0" sz="12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84" name="Google Shape;84;p17"/>
          <p:cNvSpPr txBox="1"/>
          <p:nvPr>
            <p:ph idx="3" type="subTitle"/>
          </p:nvPr>
        </p:nvSpPr>
        <p:spPr>
          <a:xfrm>
            <a:off x="5055275" y="2081525"/>
            <a:ext cx="25056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600"/>
              <a:buFont typeface="Montserrat SemiBold"/>
              <a:buNone/>
              <a:defRPr sz="1600">
                <a:solidFill>
                  <a:schemeClr val="dk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2pPr>
            <a:lvl3pPr lvl="2"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3pPr>
            <a:lvl4pPr lvl="3"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4pPr>
            <a:lvl5pPr lvl="4"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5pPr>
            <a:lvl6pPr lvl="5"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6pPr>
            <a:lvl7pPr lvl="6"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7pPr>
            <a:lvl8pPr lvl="7"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8pPr>
            <a:lvl9pPr lvl="8"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9pPr>
          </a:lstStyle>
          <a:p/>
        </p:txBody>
      </p:sp>
      <p:sp>
        <p:nvSpPr>
          <p:cNvPr id="85" name="Google Shape;85;p17"/>
          <p:cNvSpPr txBox="1"/>
          <p:nvPr>
            <p:ph idx="4" type="subTitle"/>
          </p:nvPr>
        </p:nvSpPr>
        <p:spPr>
          <a:xfrm>
            <a:off x="1583300" y="2081525"/>
            <a:ext cx="2505600" cy="3945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1600"/>
              <a:buFont typeface="Montserrat SemiBold"/>
              <a:buNone/>
              <a:defRPr sz="1600">
                <a:solidFill>
                  <a:schemeClr val="dk1"/>
                </a:solidFill>
                <a:latin typeface="Montserrat SemiBold"/>
                <a:ea typeface="Montserrat SemiBold"/>
                <a:cs typeface="Montserrat SemiBold"/>
                <a:sym typeface="Montserrat SemiBold"/>
              </a:defRPr>
            </a:lvl1pPr>
            <a:lvl2pPr lvl="1"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2pPr>
            <a:lvl3pPr lvl="2"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3pPr>
            <a:lvl4pPr lvl="3"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4pPr>
            <a:lvl5pPr lvl="4"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5pPr>
            <a:lvl6pPr lvl="5"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6pPr>
            <a:lvl7pPr lvl="6"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7pPr>
            <a:lvl8pPr lvl="7"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8pPr>
            <a:lvl9pPr lvl="8" algn="ctr">
              <a:lnSpc>
                <a:spcPct val="100000"/>
              </a:lnSpc>
              <a:spcBef>
                <a:spcPts val="0"/>
              </a:spcBef>
              <a:spcAft>
                <a:spcPts val="0"/>
              </a:spcAft>
              <a:buSzPts val="1600"/>
              <a:buFont typeface="Montserrat SemiBold"/>
              <a:buNone/>
              <a:defRPr sz="1600">
                <a:latin typeface="Montserrat SemiBold"/>
                <a:ea typeface="Montserrat SemiBold"/>
                <a:cs typeface="Montserrat SemiBold"/>
                <a:sym typeface="Montserrat SemiBold"/>
              </a:defRPr>
            </a:lvl9pPr>
          </a:lstStyle>
          <a:p/>
        </p:txBody>
      </p:sp>
      <p:sp>
        <p:nvSpPr>
          <p:cNvPr id="86" name="Google Shape;86;p17"/>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18"/>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89" name="Shape 89"/>
        <p:cNvGrpSpPr/>
        <p:nvPr/>
      </p:nvGrpSpPr>
      <p:grpSpPr>
        <a:xfrm>
          <a:off x="0" y="0"/>
          <a:ext cx="0" cy="0"/>
          <a:chOff x="0" y="0"/>
          <a:chExt cx="0" cy="0"/>
        </a:xfrm>
      </p:grpSpPr>
      <p:sp>
        <p:nvSpPr>
          <p:cNvPr id="90" name="Google Shape;90;p19"/>
          <p:cNvSpPr txBox="1"/>
          <p:nvPr>
            <p:ph idx="1" type="subTitle"/>
          </p:nvPr>
        </p:nvSpPr>
        <p:spPr>
          <a:xfrm>
            <a:off x="720000" y="1541950"/>
            <a:ext cx="4294800" cy="3062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Font typeface="Nunito Light"/>
              <a:buChar char="●"/>
              <a:defRPr/>
            </a:lvl1pPr>
            <a:lvl2pPr lvl="1" algn="ctr">
              <a:lnSpc>
                <a:spcPct val="100000"/>
              </a:lnSpc>
              <a:spcBef>
                <a:spcPts val="0"/>
              </a:spcBef>
              <a:spcAft>
                <a:spcPts val="0"/>
              </a:spcAft>
              <a:buClr>
                <a:srgbClr val="E76A28"/>
              </a:buClr>
              <a:buSzPts val="1400"/>
              <a:buFont typeface="Nunito Light"/>
              <a:buChar char="○"/>
              <a:defRPr/>
            </a:lvl2pPr>
            <a:lvl3pPr lvl="2" algn="ctr">
              <a:lnSpc>
                <a:spcPct val="100000"/>
              </a:lnSpc>
              <a:spcBef>
                <a:spcPts val="0"/>
              </a:spcBef>
              <a:spcAft>
                <a:spcPts val="0"/>
              </a:spcAft>
              <a:buClr>
                <a:srgbClr val="E76A28"/>
              </a:buClr>
              <a:buSzPts val="1400"/>
              <a:buFont typeface="Nunito Light"/>
              <a:buChar char="■"/>
              <a:defRPr/>
            </a:lvl3pPr>
            <a:lvl4pPr lvl="3" algn="ctr">
              <a:lnSpc>
                <a:spcPct val="100000"/>
              </a:lnSpc>
              <a:spcBef>
                <a:spcPts val="0"/>
              </a:spcBef>
              <a:spcAft>
                <a:spcPts val="0"/>
              </a:spcAft>
              <a:buClr>
                <a:srgbClr val="E76A28"/>
              </a:buClr>
              <a:buSzPts val="1400"/>
              <a:buFont typeface="Nunito Light"/>
              <a:buChar char="●"/>
              <a:defRPr/>
            </a:lvl4pPr>
            <a:lvl5pPr lvl="4" algn="ctr">
              <a:lnSpc>
                <a:spcPct val="100000"/>
              </a:lnSpc>
              <a:spcBef>
                <a:spcPts val="0"/>
              </a:spcBef>
              <a:spcAft>
                <a:spcPts val="0"/>
              </a:spcAft>
              <a:buClr>
                <a:srgbClr val="E76A28"/>
              </a:buClr>
              <a:buSzPts val="1400"/>
              <a:buFont typeface="Nunito Light"/>
              <a:buChar char="○"/>
              <a:defRPr/>
            </a:lvl5pPr>
            <a:lvl6pPr lvl="5" algn="ctr">
              <a:lnSpc>
                <a:spcPct val="100000"/>
              </a:lnSpc>
              <a:spcBef>
                <a:spcPts val="0"/>
              </a:spcBef>
              <a:spcAft>
                <a:spcPts val="0"/>
              </a:spcAft>
              <a:buClr>
                <a:srgbClr val="999999"/>
              </a:buClr>
              <a:buSzPts val="1400"/>
              <a:buFont typeface="Nunito Light"/>
              <a:buChar char="■"/>
              <a:defRPr/>
            </a:lvl6pPr>
            <a:lvl7pPr lvl="6" algn="ctr">
              <a:lnSpc>
                <a:spcPct val="100000"/>
              </a:lnSpc>
              <a:spcBef>
                <a:spcPts val="0"/>
              </a:spcBef>
              <a:spcAft>
                <a:spcPts val="0"/>
              </a:spcAft>
              <a:buClr>
                <a:srgbClr val="999999"/>
              </a:buClr>
              <a:buSzPts val="1400"/>
              <a:buFont typeface="Nunito Light"/>
              <a:buChar char="●"/>
              <a:defRPr/>
            </a:lvl7pPr>
            <a:lvl8pPr lvl="7" algn="ctr">
              <a:lnSpc>
                <a:spcPct val="100000"/>
              </a:lnSpc>
              <a:spcBef>
                <a:spcPts val="0"/>
              </a:spcBef>
              <a:spcAft>
                <a:spcPts val="0"/>
              </a:spcAft>
              <a:buClr>
                <a:srgbClr val="999999"/>
              </a:buClr>
              <a:buSzPts val="1400"/>
              <a:buFont typeface="Nunito Light"/>
              <a:buChar char="○"/>
              <a:defRPr/>
            </a:lvl8pPr>
            <a:lvl9pPr lvl="8" algn="ctr">
              <a:lnSpc>
                <a:spcPct val="100000"/>
              </a:lnSpc>
              <a:spcBef>
                <a:spcPts val="0"/>
              </a:spcBef>
              <a:spcAft>
                <a:spcPts val="0"/>
              </a:spcAft>
              <a:buClr>
                <a:srgbClr val="999999"/>
              </a:buClr>
              <a:buSzPts val="1400"/>
              <a:buFont typeface="Nunito Light"/>
              <a:buChar char="■"/>
              <a:defRPr/>
            </a:lvl9pPr>
          </a:lstStyle>
          <a:p/>
        </p:txBody>
      </p:sp>
      <p:sp>
        <p:nvSpPr>
          <p:cNvPr id="91" name="Google Shape;91;p19"/>
          <p:cNvSpPr/>
          <p:nvPr>
            <p:ph idx="2" type="pic"/>
          </p:nvPr>
        </p:nvSpPr>
        <p:spPr>
          <a:xfrm>
            <a:off x="5464675" y="1337600"/>
            <a:ext cx="2966100" cy="3266400"/>
          </a:xfrm>
          <a:prstGeom prst="rect">
            <a:avLst/>
          </a:prstGeom>
          <a:noFill/>
          <a:ln>
            <a:noFill/>
          </a:ln>
        </p:spPr>
      </p:sp>
      <p:sp>
        <p:nvSpPr>
          <p:cNvPr id="92" name="Google Shape;92;p19"/>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93" name="Shape 93"/>
        <p:cNvGrpSpPr/>
        <p:nvPr/>
      </p:nvGrpSpPr>
      <p:grpSpPr>
        <a:xfrm>
          <a:off x="0" y="0"/>
          <a:ext cx="0" cy="0"/>
          <a:chOff x="0" y="0"/>
          <a:chExt cx="0" cy="0"/>
        </a:xfrm>
      </p:grpSpPr>
      <p:sp>
        <p:nvSpPr>
          <p:cNvPr id="94" name="Google Shape;94;p20"/>
          <p:cNvSpPr txBox="1"/>
          <p:nvPr>
            <p:ph type="title"/>
          </p:nvPr>
        </p:nvSpPr>
        <p:spPr>
          <a:xfrm>
            <a:off x="713225" y="1307100"/>
            <a:ext cx="7717500" cy="25293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5" name="Shape 95"/>
        <p:cNvGrpSpPr/>
        <p:nvPr/>
      </p:nvGrpSpPr>
      <p:grpSpPr>
        <a:xfrm>
          <a:off x="0" y="0"/>
          <a:ext cx="0" cy="0"/>
          <a:chOff x="0" y="0"/>
          <a:chExt cx="0" cy="0"/>
        </a:xfrm>
      </p:grpSpPr>
      <p:sp>
        <p:nvSpPr>
          <p:cNvPr id="96" name="Google Shape;96;p21"/>
          <p:cNvSpPr txBox="1"/>
          <p:nvPr>
            <p:ph idx="1" type="subTitle"/>
          </p:nvPr>
        </p:nvSpPr>
        <p:spPr>
          <a:xfrm>
            <a:off x="5039701" y="1587400"/>
            <a:ext cx="3384300" cy="2837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Font typeface="Montserrat"/>
              <a:buNone/>
              <a:defRPr sz="1200">
                <a:latin typeface="Montserrat"/>
                <a:ea typeface="Montserrat"/>
                <a:cs typeface="Montserrat"/>
                <a:sym typeface="Montserrat"/>
              </a:defRPr>
            </a:lvl1pPr>
            <a:lvl2pPr lvl="1" algn="ctr">
              <a:lnSpc>
                <a:spcPct val="100000"/>
              </a:lnSpc>
              <a:spcBef>
                <a:spcPts val="0"/>
              </a:spcBef>
              <a:spcAft>
                <a:spcPts val="0"/>
              </a:spcAft>
              <a:buSzPts val="1200"/>
              <a:buFont typeface="Montserrat"/>
              <a:buNone/>
              <a:defRPr sz="1200">
                <a:latin typeface="Montserrat"/>
                <a:ea typeface="Montserrat"/>
                <a:cs typeface="Montserrat"/>
                <a:sym typeface="Montserrat"/>
              </a:defRPr>
            </a:lvl2pPr>
            <a:lvl3pPr lvl="2" algn="ctr">
              <a:lnSpc>
                <a:spcPct val="100000"/>
              </a:lnSpc>
              <a:spcBef>
                <a:spcPts val="0"/>
              </a:spcBef>
              <a:spcAft>
                <a:spcPts val="0"/>
              </a:spcAft>
              <a:buSzPts val="1200"/>
              <a:buFont typeface="Montserrat"/>
              <a:buNone/>
              <a:defRPr sz="1200">
                <a:latin typeface="Montserrat"/>
                <a:ea typeface="Montserrat"/>
                <a:cs typeface="Montserrat"/>
                <a:sym typeface="Montserrat"/>
              </a:defRPr>
            </a:lvl3pPr>
            <a:lvl4pPr lvl="3" algn="ctr">
              <a:lnSpc>
                <a:spcPct val="100000"/>
              </a:lnSpc>
              <a:spcBef>
                <a:spcPts val="0"/>
              </a:spcBef>
              <a:spcAft>
                <a:spcPts val="0"/>
              </a:spcAft>
              <a:buSzPts val="1200"/>
              <a:buFont typeface="Montserrat"/>
              <a:buNone/>
              <a:defRPr sz="1200">
                <a:latin typeface="Montserrat"/>
                <a:ea typeface="Montserrat"/>
                <a:cs typeface="Montserrat"/>
                <a:sym typeface="Montserrat"/>
              </a:defRPr>
            </a:lvl4pPr>
            <a:lvl5pPr lvl="4" algn="ctr">
              <a:lnSpc>
                <a:spcPct val="100000"/>
              </a:lnSpc>
              <a:spcBef>
                <a:spcPts val="0"/>
              </a:spcBef>
              <a:spcAft>
                <a:spcPts val="0"/>
              </a:spcAft>
              <a:buSzPts val="1200"/>
              <a:buFont typeface="Montserrat"/>
              <a:buNone/>
              <a:defRPr sz="1200">
                <a:latin typeface="Montserrat"/>
                <a:ea typeface="Montserrat"/>
                <a:cs typeface="Montserrat"/>
                <a:sym typeface="Montserrat"/>
              </a:defRPr>
            </a:lvl5pPr>
            <a:lvl6pPr lvl="5" algn="ctr">
              <a:lnSpc>
                <a:spcPct val="100000"/>
              </a:lnSpc>
              <a:spcBef>
                <a:spcPts val="0"/>
              </a:spcBef>
              <a:spcAft>
                <a:spcPts val="0"/>
              </a:spcAft>
              <a:buSzPts val="1200"/>
              <a:buFont typeface="Montserrat"/>
              <a:buNone/>
              <a:defRPr sz="1200">
                <a:latin typeface="Montserrat"/>
                <a:ea typeface="Montserrat"/>
                <a:cs typeface="Montserrat"/>
                <a:sym typeface="Montserrat"/>
              </a:defRPr>
            </a:lvl6pPr>
            <a:lvl7pPr lvl="6" algn="ctr">
              <a:lnSpc>
                <a:spcPct val="100000"/>
              </a:lnSpc>
              <a:spcBef>
                <a:spcPts val="0"/>
              </a:spcBef>
              <a:spcAft>
                <a:spcPts val="0"/>
              </a:spcAft>
              <a:buSzPts val="1200"/>
              <a:buFont typeface="Montserrat"/>
              <a:buNone/>
              <a:defRPr sz="1200">
                <a:latin typeface="Montserrat"/>
                <a:ea typeface="Montserrat"/>
                <a:cs typeface="Montserrat"/>
                <a:sym typeface="Montserrat"/>
              </a:defRPr>
            </a:lvl7pPr>
            <a:lvl8pPr lvl="7" algn="ctr">
              <a:lnSpc>
                <a:spcPct val="100000"/>
              </a:lnSpc>
              <a:spcBef>
                <a:spcPts val="0"/>
              </a:spcBef>
              <a:spcAft>
                <a:spcPts val="0"/>
              </a:spcAft>
              <a:buSzPts val="1200"/>
              <a:buFont typeface="Montserrat"/>
              <a:buNone/>
              <a:defRPr sz="1200">
                <a:latin typeface="Montserrat"/>
                <a:ea typeface="Montserrat"/>
                <a:cs typeface="Montserrat"/>
                <a:sym typeface="Montserrat"/>
              </a:defRPr>
            </a:lvl8pPr>
            <a:lvl9pPr lvl="8" algn="ctr">
              <a:lnSpc>
                <a:spcPct val="100000"/>
              </a:lnSpc>
              <a:spcBef>
                <a:spcPts val="0"/>
              </a:spcBef>
              <a:spcAft>
                <a:spcPts val="0"/>
              </a:spcAft>
              <a:buSzPts val="1200"/>
              <a:buFont typeface="Montserrat"/>
              <a:buNone/>
              <a:defRPr sz="1200">
                <a:latin typeface="Montserrat"/>
                <a:ea typeface="Montserrat"/>
                <a:cs typeface="Montserrat"/>
                <a:sym typeface="Montserrat"/>
              </a:defRPr>
            </a:lvl9pPr>
          </a:lstStyle>
          <a:p/>
        </p:txBody>
      </p:sp>
      <p:sp>
        <p:nvSpPr>
          <p:cNvPr id="97" name="Google Shape;97;p21"/>
          <p:cNvSpPr txBox="1"/>
          <p:nvPr>
            <p:ph idx="2" type="subTitle"/>
          </p:nvPr>
        </p:nvSpPr>
        <p:spPr>
          <a:xfrm>
            <a:off x="720000" y="1587400"/>
            <a:ext cx="3384300" cy="28374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200"/>
              <a:buFont typeface="Montserrat"/>
              <a:buNone/>
              <a:defRPr sz="1200">
                <a:latin typeface="Montserrat"/>
                <a:ea typeface="Montserrat"/>
                <a:cs typeface="Montserrat"/>
                <a:sym typeface="Montserrat"/>
              </a:defRPr>
            </a:lvl1pPr>
            <a:lvl2pPr lvl="1" algn="ctr">
              <a:lnSpc>
                <a:spcPct val="100000"/>
              </a:lnSpc>
              <a:spcBef>
                <a:spcPts val="0"/>
              </a:spcBef>
              <a:spcAft>
                <a:spcPts val="0"/>
              </a:spcAft>
              <a:buSzPts val="1200"/>
              <a:buFont typeface="Montserrat"/>
              <a:buNone/>
              <a:defRPr sz="1200">
                <a:latin typeface="Montserrat"/>
                <a:ea typeface="Montserrat"/>
                <a:cs typeface="Montserrat"/>
                <a:sym typeface="Montserrat"/>
              </a:defRPr>
            </a:lvl2pPr>
            <a:lvl3pPr lvl="2" algn="ctr">
              <a:lnSpc>
                <a:spcPct val="100000"/>
              </a:lnSpc>
              <a:spcBef>
                <a:spcPts val="0"/>
              </a:spcBef>
              <a:spcAft>
                <a:spcPts val="0"/>
              </a:spcAft>
              <a:buSzPts val="1200"/>
              <a:buFont typeface="Montserrat"/>
              <a:buNone/>
              <a:defRPr sz="1200">
                <a:latin typeface="Montserrat"/>
                <a:ea typeface="Montserrat"/>
                <a:cs typeface="Montserrat"/>
                <a:sym typeface="Montserrat"/>
              </a:defRPr>
            </a:lvl3pPr>
            <a:lvl4pPr lvl="3" algn="ctr">
              <a:lnSpc>
                <a:spcPct val="100000"/>
              </a:lnSpc>
              <a:spcBef>
                <a:spcPts val="0"/>
              </a:spcBef>
              <a:spcAft>
                <a:spcPts val="0"/>
              </a:spcAft>
              <a:buSzPts val="1200"/>
              <a:buFont typeface="Montserrat"/>
              <a:buNone/>
              <a:defRPr sz="1200">
                <a:latin typeface="Montserrat"/>
                <a:ea typeface="Montserrat"/>
                <a:cs typeface="Montserrat"/>
                <a:sym typeface="Montserrat"/>
              </a:defRPr>
            </a:lvl4pPr>
            <a:lvl5pPr lvl="4" algn="ctr">
              <a:lnSpc>
                <a:spcPct val="100000"/>
              </a:lnSpc>
              <a:spcBef>
                <a:spcPts val="0"/>
              </a:spcBef>
              <a:spcAft>
                <a:spcPts val="0"/>
              </a:spcAft>
              <a:buSzPts val="1200"/>
              <a:buFont typeface="Montserrat"/>
              <a:buNone/>
              <a:defRPr sz="1200">
                <a:latin typeface="Montserrat"/>
                <a:ea typeface="Montserrat"/>
                <a:cs typeface="Montserrat"/>
                <a:sym typeface="Montserrat"/>
              </a:defRPr>
            </a:lvl5pPr>
            <a:lvl6pPr lvl="5" algn="ctr">
              <a:lnSpc>
                <a:spcPct val="100000"/>
              </a:lnSpc>
              <a:spcBef>
                <a:spcPts val="0"/>
              </a:spcBef>
              <a:spcAft>
                <a:spcPts val="0"/>
              </a:spcAft>
              <a:buSzPts val="1200"/>
              <a:buFont typeface="Montserrat"/>
              <a:buNone/>
              <a:defRPr sz="1200">
                <a:latin typeface="Montserrat"/>
                <a:ea typeface="Montserrat"/>
                <a:cs typeface="Montserrat"/>
                <a:sym typeface="Montserrat"/>
              </a:defRPr>
            </a:lvl6pPr>
            <a:lvl7pPr lvl="6" algn="ctr">
              <a:lnSpc>
                <a:spcPct val="100000"/>
              </a:lnSpc>
              <a:spcBef>
                <a:spcPts val="0"/>
              </a:spcBef>
              <a:spcAft>
                <a:spcPts val="0"/>
              </a:spcAft>
              <a:buSzPts val="1200"/>
              <a:buFont typeface="Montserrat"/>
              <a:buNone/>
              <a:defRPr sz="1200">
                <a:latin typeface="Montserrat"/>
                <a:ea typeface="Montserrat"/>
                <a:cs typeface="Montserrat"/>
                <a:sym typeface="Montserrat"/>
              </a:defRPr>
            </a:lvl7pPr>
            <a:lvl8pPr lvl="7" algn="ctr">
              <a:lnSpc>
                <a:spcPct val="100000"/>
              </a:lnSpc>
              <a:spcBef>
                <a:spcPts val="0"/>
              </a:spcBef>
              <a:spcAft>
                <a:spcPts val="0"/>
              </a:spcAft>
              <a:buSzPts val="1200"/>
              <a:buFont typeface="Montserrat"/>
              <a:buNone/>
              <a:defRPr sz="1200">
                <a:latin typeface="Montserrat"/>
                <a:ea typeface="Montserrat"/>
                <a:cs typeface="Montserrat"/>
                <a:sym typeface="Montserrat"/>
              </a:defRPr>
            </a:lvl8pPr>
            <a:lvl9pPr lvl="8" algn="ctr">
              <a:lnSpc>
                <a:spcPct val="100000"/>
              </a:lnSpc>
              <a:spcBef>
                <a:spcPts val="0"/>
              </a:spcBef>
              <a:spcAft>
                <a:spcPts val="0"/>
              </a:spcAft>
              <a:buSzPts val="1200"/>
              <a:buFont typeface="Montserrat"/>
              <a:buNone/>
              <a:defRPr sz="1200">
                <a:latin typeface="Montserrat"/>
                <a:ea typeface="Montserrat"/>
                <a:cs typeface="Montserrat"/>
                <a:sym typeface="Montserrat"/>
              </a:defRPr>
            </a:lvl9pPr>
          </a:lstStyle>
          <a:p/>
        </p:txBody>
      </p:sp>
      <p:sp>
        <p:nvSpPr>
          <p:cNvPr id="98" name="Google Shape;98;p21"/>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lvl1pPr lvl="0" algn="ctr">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sp>
        <p:nvSpPr>
          <p:cNvPr id="100" name="Google Shape;100;p22"/>
          <p:cNvSpPr txBox="1"/>
          <p:nvPr>
            <p:ph type="title"/>
          </p:nvPr>
        </p:nvSpPr>
        <p:spPr>
          <a:xfrm>
            <a:off x="720000" y="4014450"/>
            <a:ext cx="7704000" cy="5727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2400"/>
              <a:buNone/>
              <a:defRPr/>
            </a:lvl1pPr>
            <a:lvl2pPr lvl="1" algn="ctr">
              <a:spcBef>
                <a:spcPts val="0"/>
              </a:spcBef>
              <a:spcAft>
                <a:spcPts val="0"/>
              </a:spcAft>
              <a:buSzPts val="2400"/>
              <a:buNone/>
              <a:defRPr/>
            </a:lvl2pPr>
            <a:lvl3pPr lvl="2" algn="ctr">
              <a:spcBef>
                <a:spcPts val="0"/>
              </a:spcBef>
              <a:spcAft>
                <a:spcPts val="0"/>
              </a:spcAft>
              <a:buSzPts val="2400"/>
              <a:buNone/>
              <a:defRPr/>
            </a:lvl3pPr>
            <a:lvl4pPr lvl="3" algn="ctr">
              <a:spcBef>
                <a:spcPts val="0"/>
              </a:spcBef>
              <a:spcAft>
                <a:spcPts val="0"/>
              </a:spcAft>
              <a:buSzPts val="2400"/>
              <a:buNone/>
              <a:defRPr/>
            </a:lvl4pPr>
            <a:lvl5pPr lvl="4" algn="ctr">
              <a:spcBef>
                <a:spcPts val="0"/>
              </a:spcBef>
              <a:spcAft>
                <a:spcPts val="0"/>
              </a:spcAft>
              <a:buSzPts val="2400"/>
              <a:buNone/>
              <a:defRPr/>
            </a:lvl5pPr>
            <a:lvl6pPr lvl="5" algn="ctr">
              <a:spcBef>
                <a:spcPts val="0"/>
              </a:spcBef>
              <a:spcAft>
                <a:spcPts val="0"/>
              </a:spcAft>
              <a:buSzPts val="2400"/>
              <a:buNone/>
              <a:defRPr/>
            </a:lvl6pPr>
            <a:lvl7pPr lvl="6" algn="ctr">
              <a:spcBef>
                <a:spcPts val="0"/>
              </a:spcBef>
              <a:spcAft>
                <a:spcPts val="0"/>
              </a:spcAft>
              <a:buSzPts val="2400"/>
              <a:buNone/>
              <a:defRPr/>
            </a:lvl7pPr>
            <a:lvl8pPr lvl="7" algn="ctr">
              <a:spcBef>
                <a:spcPts val="0"/>
              </a:spcBef>
              <a:spcAft>
                <a:spcPts val="0"/>
              </a:spcAft>
              <a:buSzPts val="2400"/>
              <a:buNone/>
              <a:defRPr/>
            </a:lvl8pPr>
            <a:lvl9pPr lvl="8" algn="ctr">
              <a:spcBef>
                <a:spcPts val="0"/>
              </a:spcBef>
              <a:spcAft>
                <a:spcPts val="0"/>
              </a:spcAft>
              <a:buSzPts val="2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1" name="Shape 101"/>
        <p:cNvGrpSpPr/>
        <p:nvPr/>
      </p:nvGrpSpPr>
      <p:grpSpPr>
        <a:xfrm>
          <a:off x="0" y="0"/>
          <a:ext cx="0" cy="0"/>
          <a:chOff x="0" y="0"/>
          <a:chExt cx="0" cy="0"/>
        </a:xfrm>
      </p:grpSpPr>
      <p:sp>
        <p:nvSpPr>
          <p:cNvPr id="102" name="Google Shape;102;p23"/>
          <p:cNvSpPr txBox="1"/>
          <p:nvPr>
            <p:ph hasCustomPrompt="1" type="title"/>
          </p:nvPr>
        </p:nvSpPr>
        <p:spPr>
          <a:xfrm>
            <a:off x="1284000" y="1819581"/>
            <a:ext cx="6576000" cy="1007100"/>
          </a:xfrm>
          <a:prstGeom prst="rect">
            <a:avLst/>
          </a:prstGeom>
        </p:spPr>
        <p:txBody>
          <a:bodyPr anchorCtr="0" anchor="b" bIns="91425" lIns="91425" spcFirstLastPara="1" rIns="91425" wrap="square" tIns="91425">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103" name="Google Shape;103;p23"/>
          <p:cNvSpPr txBox="1"/>
          <p:nvPr>
            <p:ph idx="1" type="subTitle"/>
          </p:nvPr>
        </p:nvSpPr>
        <p:spPr>
          <a:xfrm>
            <a:off x="1284000" y="2826800"/>
            <a:ext cx="6576000" cy="497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4" name="Shape 10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68" name="Shape 68"/>
        <p:cNvGrpSpPr/>
        <p:nvPr/>
      </p:nvGrpSpPr>
      <p:grpSpPr>
        <a:xfrm>
          <a:off x="0" y="0"/>
          <a:ext cx="0" cy="0"/>
          <a:chOff x="0" y="0"/>
          <a:chExt cx="0" cy="0"/>
        </a:xfrm>
      </p:grpSpPr>
      <p:sp>
        <p:nvSpPr>
          <p:cNvPr id="69" name="Google Shape;69;p13"/>
          <p:cNvSpPr txBox="1"/>
          <p:nvPr>
            <p:ph type="title"/>
          </p:nvPr>
        </p:nvSpPr>
        <p:spPr>
          <a:xfrm>
            <a:off x="713250" y="539500"/>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1pPr>
            <a:lvl2pPr lvl="1">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2pPr>
            <a:lvl3pPr lvl="2">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3pPr>
            <a:lvl4pPr lvl="3">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4pPr>
            <a:lvl5pPr lvl="4">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5pPr>
            <a:lvl6pPr lvl="5">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6pPr>
            <a:lvl7pPr lvl="6">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7pPr>
            <a:lvl8pPr lvl="7">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8pPr>
            <a:lvl9pPr lvl="8">
              <a:spcBef>
                <a:spcPts val="0"/>
              </a:spcBef>
              <a:spcAft>
                <a:spcPts val="0"/>
              </a:spcAft>
              <a:buClr>
                <a:schemeClr val="dk1"/>
              </a:buClr>
              <a:buSzPts val="2400"/>
              <a:buFont typeface="Montserrat"/>
              <a:buNone/>
              <a:defRPr b="1" sz="2400">
                <a:solidFill>
                  <a:schemeClr val="dk1"/>
                </a:solidFill>
                <a:latin typeface="Montserrat"/>
                <a:ea typeface="Montserrat"/>
                <a:cs typeface="Montserrat"/>
                <a:sym typeface="Montserrat"/>
              </a:defRPr>
            </a:lvl9pPr>
          </a:lstStyle>
          <a:p/>
        </p:txBody>
      </p:sp>
      <p:sp>
        <p:nvSpPr>
          <p:cNvPr id="70" name="Google Shape;70;p13"/>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1pPr>
            <a:lvl2pPr indent="-317500" lvl="1" marL="914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indent="-317500" lvl="2" marL="1371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indent="-317500" lvl="3" marL="1828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indent="-317500" lvl="4" marL="22860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indent="-317500" lvl="5" marL="27432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indent="-317500" lvl="6" marL="32004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indent="-317500" lvl="7" marL="36576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indent="-317500" lvl="8" marL="4114800">
              <a:lnSpc>
                <a:spcPct val="100000"/>
              </a:lnSpc>
              <a:spcBef>
                <a:spcPts val="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0083"/>
        </a:solidFill>
      </p:bgPr>
    </p:bg>
    <p:spTree>
      <p:nvGrpSpPr>
        <p:cNvPr id="108" name="Shape 108"/>
        <p:cNvGrpSpPr/>
        <p:nvPr/>
      </p:nvGrpSpPr>
      <p:grpSpPr>
        <a:xfrm>
          <a:off x="0" y="0"/>
          <a:ext cx="0" cy="0"/>
          <a:chOff x="0" y="0"/>
          <a:chExt cx="0" cy="0"/>
        </a:xfrm>
      </p:grpSpPr>
      <p:sp>
        <p:nvSpPr>
          <p:cNvPr id="109" name="Google Shape;109;p25"/>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Lemonade Roadmap Proposal</a:t>
            </a:r>
            <a:endParaRPr/>
          </a:p>
        </p:txBody>
      </p:sp>
      <p:sp>
        <p:nvSpPr>
          <p:cNvPr id="110" name="Google Shape;110;p25"/>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Team 2 Security Consultants : Sharon, Sri, Abayomi, Eden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 name="Shape 114"/>
        <p:cNvGrpSpPr/>
        <p:nvPr/>
      </p:nvGrpSpPr>
      <p:grpSpPr>
        <a:xfrm>
          <a:off x="0" y="0"/>
          <a:ext cx="0" cy="0"/>
          <a:chOff x="0" y="0"/>
          <a:chExt cx="0" cy="0"/>
        </a:xfrm>
      </p:grpSpPr>
      <p:sp>
        <p:nvSpPr>
          <p:cNvPr id="115" name="Google Shape;115;p26"/>
          <p:cNvSpPr txBox="1"/>
          <p:nvPr>
            <p:ph type="title"/>
          </p:nvPr>
        </p:nvSpPr>
        <p:spPr>
          <a:xfrm>
            <a:off x="1426475" y="73500"/>
            <a:ext cx="4306500" cy="6465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Introduction</a:t>
            </a:r>
            <a:endParaRPr/>
          </a:p>
        </p:txBody>
      </p:sp>
      <p:sp>
        <p:nvSpPr>
          <p:cNvPr id="116" name="Google Shape;116;p26"/>
          <p:cNvSpPr txBox="1"/>
          <p:nvPr>
            <p:ph idx="2" type="body"/>
          </p:nvPr>
        </p:nvSpPr>
        <p:spPr>
          <a:xfrm>
            <a:off x="4572000" y="220425"/>
            <a:ext cx="4572000" cy="4687800"/>
          </a:xfrm>
          <a:prstGeom prst="rect">
            <a:avLst/>
          </a:prstGeom>
        </p:spPr>
        <p:txBody>
          <a:bodyPr anchorCtr="0" anchor="ctr" bIns="91425" lIns="91425" spcFirstLastPara="1" rIns="91425" wrap="square" tIns="91425">
            <a:noAutofit/>
          </a:bodyPr>
          <a:lstStyle/>
          <a:p>
            <a:pPr indent="0" lvl="0" marL="457200" rtl="0" algn="l">
              <a:spcBef>
                <a:spcPts val="0"/>
              </a:spcBef>
              <a:spcAft>
                <a:spcPts val="0"/>
              </a:spcAft>
              <a:buNone/>
            </a:pPr>
            <a:r>
              <a:t/>
            </a:r>
            <a:endParaRPr sz="1300">
              <a:solidFill>
                <a:schemeClr val="dk2"/>
              </a:solidFill>
            </a:endParaRPr>
          </a:p>
          <a:p>
            <a:pPr indent="0" lvl="0" marL="0" rtl="0" algn="l">
              <a:lnSpc>
                <a:spcPct val="100000"/>
              </a:lnSpc>
              <a:spcBef>
                <a:spcPts val="0"/>
              </a:spcBef>
              <a:spcAft>
                <a:spcPts val="0"/>
              </a:spcAft>
              <a:buClr>
                <a:schemeClr val="dk2"/>
              </a:buClr>
              <a:buSzPts val="1100"/>
              <a:buFont typeface="Arial"/>
              <a:buNone/>
            </a:pPr>
            <a:r>
              <a:rPr b="1" lang="en" sz="1600"/>
              <a:t>Our solutions for Lemonade Online Insurance company</a:t>
            </a:r>
            <a:endParaRPr b="1" sz="1600"/>
          </a:p>
          <a:p>
            <a:pPr indent="-323850" lvl="0" marL="457200" rtl="0" algn="l">
              <a:lnSpc>
                <a:spcPct val="100000"/>
              </a:lnSpc>
              <a:spcBef>
                <a:spcPts val="1600"/>
              </a:spcBef>
              <a:spcAft>
                <a:spcPts val="0"/>
              </a:spcAft>
              <a:buSzPts val="1500"/>
              <a:buChar char="➔"/>
            </a:pPr>
            <a:r>
              <a:rPr b="1" lang="en" sz="1500"/>
              <a:t>Post-Audit Recommendations:</a:t>
            </a:r>
            <a:r>
              <a:rPr lang="en" sz="1500"/>
              <a:t> Actionable insights to enhance your security posture.</a:t>
            </a:r>
            <a:endParaRPr sz="1500"/>
          </a:p>
          <a:p>
            <a:pPr indent="-323850" lvl="0" marL="457200" rtl="0" algn="l">
              <a:lnSpc>
                <a:spcPct val="100000"/>
              </a:lnSpc>
              <a:spcBef>
                <a:spcPts val="1600"/>
              </a:spcBef>
              <a:spcAft>
                <a:spcPts val="0"/>
              </a:spcAft>
              <a:buSzPts val="1500"/>
              <a:buChar char="➔"/>
            </a:pPr>
            <a:r>
              <a:rPr b="1" lang="en" sz="1500"/>
              <a:t>Comprehensive Security Solutions: </a:t>
            </a:r>
            <a:r>
              <a:rPr lang="en" sz="1500"/>
              <a:t>Tailored strategies to secure your company against evolving threats.</a:t>
            </a:r>
            <a:endParaRPr sz="1500"/>
          </a:p>
          <a:p>
            <a:pPr indent="-323850" lvl="0" marL="457200" rtl="0" algn="l">
              <a:lnSpc>
                <a:spcPct val="100000"/>
              </a:lnSpc>
              <a:spcBef>
                <a:spcPts val="1000"/>
              </a:spcBef>
              <a:spcAft>
                <a:spcPts val="0"/>
              </a:spcAft>
              <a:buSzPts val="1500"/>
              <a:buChar char="➔"/>
            </a:pPr>
            <a:r>
              <a:rPr b="1" lang="en" sz="1500"/>
              <a:t>Cost-Effective Approach:</a:t>
            </a:r>
            <a:r>
              <a:rPr lang="en" sz="1500"/>
              <a:t> Optimizing resources for maximum protection and compliance.</a:t>
            </a:r>
            <a:endParaRPr sz="1500"/>
          </a:p>
          <a:p>
            <a:pPr indent="0" lvl="0" marL="457200" rtl="0" algn="l">
              <a:lnSpc>
                <a:spcPct val="100000"/>
              </a:lnSpc>
              <a:spcBef>
                <a:spcPts val="1000"/>
              </a:spcBef>
              <a:spcAft>
                <a:spcPts val="0"/>
              </a:spcAft>
              <a:buNone/>
            </a:pPr>
            <a:r>
              <a:t/>
            </a:r>
            <a:endParaRPr b="1" sz="1500"/>
          </a:p>
          <a:p>
            <a:pPr indent="-323850" lvl="0" marL="457200" rtl="0" algn="l">
              <a:lnSpc>
                <a:spcPct val="100000"/>
              </a:lnSpc>
              <a:spcBef>
                <a:spcPts val="0"/>
              </a:spcBef>
              <a:spcAft>
                <a:spcPts val="0"/>
              </a:spcAft>
              <a:buSzPts val="1500"/>
              <a:buChar char="➔"/>
            </a:pPr>
            <a:r>
              <a:rPr b="1" lang="en" sz="1500"/>
              <a:t>Continuous Improvement:</a:t>
            </a:r>
            <a:r>
              <a:rPr lang="en" sz="1500"/>
              <a:t> Ongoing support and updates to maintain robust defenses.</a:t>
            </a:r>
            <a:endParaRPr b="1" sz="1300"/>
          </a:p>
        </p:txBody>
      </p:sp>
      <p:sp>
        <p:nvSpPr>
          <p:cNvPr id="117" name="Google Shape;117;p26"/>
          <p:cNvSpPr txBox="1"/>
          <p:nvPr/>
        </p:nvSpPr>
        <p:spPr>
          <a:xfrm>
            <a:off x="0" y="881675"/>
            <a:ext cx="4452900" cy="4026600"/>
          </a:xfrm>
          <a:prstGeom prst="rect">
            <a:avLst/>
          </a:prstGeom>
          <a:solidFill>
            <a:schemeClr val="lt1"/>
          </a:solidFill>
          <a:ln>
            <a:noFill/>
          </a:ln>
        </p:spPr>
        <p:txBody>
          <a:bodyPr anchorCtr="0" anchor="ctr" bIns="91425" lIns="91425" spcFirstLastPara="1" rIns="91425" wrap="square" tIns="91425">
            <a:noAutofit/>
          </a:bodyPr>
          <a:lstStyle/>
          <a:p>
            <a:pPr indent="457200" lvl="0" marL="457200" rtl="0" algn="l">
              <a:lnSpc>
                <a:spcPct val="115000"/>
              </a:lnSpc>
              <a:spcBef>
                <a:spcPts val="0"/>
              </a:spcBef>
              <a:spcAft>
                <a:spcPts val="0"/>
              </a:spcAft>
              <a:buNone/>
            </a:pPr>
            <a:r>
              <a:rPr b="1" lang="en" sz="2000">
                <a:solidFill>
                  <a:schemeClr val="dk1"/>
                </a:solidFill>
                <a:latin typeface="Lato"/>
                <a:ea typeface="Lato"/>
                <a:cs typeface="Lato"/>
                <a:sym typeface="Lato"/>
              </a:rPr>
              <a:t>Team2 Security Grou</a:t>
            </a:r>
            <a:r>
              <a:rPr b="1" lang="en" sz="2000">
                <a:solidFill>
                  <a:schemeClr val="dk1"/>
                </a:solidFill>
                <a:latin typeface="Lato"/>
                <a:ea typeface="Lato"/>
                <a:cs typeface="Lato"/>
                <a:sym typeface="Lato"/>
              </a:rPr>
              <a:t>p</a:t>
            </a:r>
            <a:endParaRPr b="1" sz="2000">
              <a:solidFill>
                <a:schemeClr val="dk1"/>
              </a:solidFill>
              <a:latin typeface="Lato"/>
              <a:ea typeface="Lato"/>
              <a:cs typeface="Lato"/>
              <a:sym typeface="Lato"/>
            </a:endParaRPr>
          </a:p>
          <a:p>
            <a:pPr indent="0" lvl="0" marL="0" rtl="0" algn="l">
              <a:lnSpc>
                <a:spcPct val="115000"/>
              </a:lnSpc>
              <a:spcBef>
                <a:spcPts val="0"/>
              </a:spcBef>
              <a:spcAft>
                <a:spcPts val="0"/>
              </a:spcAft>
              <a:buNone/>
            </a:pPr>
            <a:r>
              <a:rPr lang="en" sz="1500">
                <a:solidFill>
                  <a:schemeClr val="dk1"/>
                </a:solidFill>
                <a:latin typeface="Lato"/>
                <a:ea typeface="Lato"/>
                <a:cs typeface="Lato"/>
                <a:sym typeface="Lato"/>
              </a:rPr>
              <a:t>A  leading cybersecurity consultancy  specializing in developing tailored, cost effective robust security solutions for digital-first companies.</a:t>
            </a:r>
            <a:endParaRPr sz="15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500">
              <a:solidFill>
                <a:schemeClr val="dk1"/>
              </a:solidFill>
              <a:latin typeface="Lato"/>
              <a:ea typeface="Lato"/>
              <a:cs typeface="Lato"/>
              <a:sym typeface="Lato"/>
            </a:endParaRPr>
          </a:p>
          <a:p>
            <a:pPr indent="-323850" lvl="0" marL="457200" rtl="0" algn="l">
              <a:lnSpc>
                <a:spcPct val="115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Proven Success </a:t>
            </a:r>
            <a:r>
              <a:rPr lang="en" sz="1500">
                <a:solidFill>
                  <a:schemeClr val="dk1"/>
                </a:solidFill>
                <a:latin typeface="Lato"/>
                <a:ea typeface="Lato"/>
                <a:cs typeface="Lato"/>
                <a:sym typeface="Lato"/>
              </a:rPr>
              <a:t>Trusted by tech-driven clients for data protection and compliance.</a:t>
            </a:r>
            <a:endParaRPr sz="1500">
              <a:solidFill>
                <a:schemeClr val="dk1"/>
              </a:solidFill>
              <a:latin typeface="Lato"/>
              <a:ea typeface="Lato"/>
              <a:cs typeface="Lato"/>
              <a:sym typeface="Lato"/>
            </a:endParaRPr>
          </a:p>
          <a:p>
            <a:pPr indent="0" lvl="0" marL="457200" rtl="0" algn="l">
              <a:lnSpc>
                <a:spcPct val="115000"/>
              </a:lnSpc>
              <a:spcBef>
                <a:spcPts val="0"/>
              </a:spcBef>
              <a:spcAft>
                <a:spcPts val="0"/>
              </a:spcAft>
              <a:buNone/>
            </a:pPr>
            <a:r>
              <a:t/>
            </a:r>
            <a:endParaRPr sz="1500">
              <a:solidFill>
                <a:schemeClr val="dk1"/>
              </a:solidFill>
              <a:latin typeface="Lato"/>
              <a:ea typeface="Lato"/>
              <a:cs typeface="Lato"/>
              <a:sym typeface="Lato"/>
            </a:endParaRPr>
          </a:p>
          <a:p>
            <a:pPr indent="-323850" lvl="0" marL="457200" rtl="0" algn="l">
              <a:lnSpc>
                <a:spcPct val="115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Client-Focused</a:t>
            </a:r>
            <a:r>
              <a:rPr lang="en" sz="1500">
                <a:solidFill>
                  <a:schemeClr val="dk1"/>
                </a:solidFill>
                <a:latin typeface="Lato"/>
                <a:ea typeface="Lato"/>
                <a:cs typeface="Lato"/>
                <a:sym typeface="Lato"/>
              </a:rPr>
              <a:t> Security strategies aligned with each client’s unique needs.</a:t>
            </a:r>
            <a:endParaRPr sz="1500">
              <a:solidFill>
                <a:schemeClr val="dk1"/>
              </a:solidFill>
              <a:latin typeface="Lato"/>
              <a:ea typeface="Lato"/>
              <a:cs typeface="Lato"/>
              <a:sym typeface="Lato"/>
            </a:endParaRPr>
          </a:p>
          <a:p>
            <a:pPr indent="0" lvl="0" marL="457200" rtl="0" algn="l">
              <a:lnSpc>
                <a:spcPct val="115000"/>
              </a:lnSpc>
              <a:spcBef>
                <a:spcPts val="0"/>
              </a:spcBef>
              <a:spcAft>
                <a:spcPts val="0"/>
              </a:spcAft>
              <a:buNone/>
            </a:pPr>
            <a:r>
              <a:t/>
            </a:r>
            <a:endParaRPr sz="1500">
              <a:solidFill>
                <a:schemeClr val="dk1"/>
              </a:solidFill>
              <a:latin typeface="Lato"/>
              <a:ea typeface="Lato"/>
              <a:cs typeface="Lato"/>
              <a:sym typeface="Lato"/>
            </a:endParaRPr>
          </a:p>
          <a:p>
            <a:pPr indent="-323850" lvl="0" marL="457200" rtl="0" algn="l">
              <a:lnSpc>
                <a:spcPct val="115000"/>
              </a:lnSpc>
              <a:spcBef>
                <a:spcPts val="0"/>
              </a:spcBef>
              <a:spcAft>
                <a:spcPts val="0"/>
              </a:spcAft>
              <a:buClr>
                <a:schemeClr val="dk1"/>
              </a:buClr>
              <a:buSzPts val="1500"/>
              <a:buFont typeface="Lato"/>
              <a:buChar char="➢"/>
            </a:pPr>
            <a:r>
              <a:rPr b="1" lang="en" sz="1500">
                <a:solidFill>
                  <a:schemeClr val="dk1"/>
                </a:solidFill>
                <a:latin typeface="Lato"/>
                <a:ea typeface="Lato"/>
                <a:cs typeface="Lato"/>
                <a:sym typeface="Lato"/>
              </a:rPr>
              <a:t>Innovation-Driven</a:t>
            </a:r>
            <a:r>
              <a:rPr lang="en" sz="1500">
                <a:solidFill>
                  <a:schemeClr val="dk1"/>
                </a:solidFill>
                <a:latin typeface="Lato"/>
                <a:ea typeface="Lato"/>
                <a:cs typeface="Lato"/>
                <a:sym typeface="Lato"/>
              </a:rPr>
              <a:t> Proactive, cutting-edge methods to stay ahead of threats.</a:t>
            </a:r>
            <a:endParaRPr sz="15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500">
              <a:solidFill>
                <a:schemeClr val="dk1"/>
              </a:solidFill>
              <a:latin typeface="Lato"/>
              <a:ea typeface="Lato"/>
              <a:cs typeface="Lato"/>
              <a:sym typeface="Lato"/>
            </a:endParaRPr>
          </a:p>
          <a:p>
            <a:pPr indent="0" lvl="0" marL="0" rtl="0" algn="l">
              <a:lnSpc>
                <a:spcPct val="115000"/>
              </a:lnSpc>
              <a:spcBef>
                <a:spcPts val="0"/>
              </a:spcBef>
              <a:spcAft>
                <a:spcPts val="0"/>
              </a:spcAft>
              <a:buNone/>
            </a:pPr>
            <a:r>
              <a:t/>
            </a:r>
            <a:endParaRPr sz="1500">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Arial"/>
                <a:ea typeface="Arial"/>
                <a:cs typeface="Arial"/>
                <a:sym typeface="Arial"/>
              </a:rPr>
              <a:t>Objectives</a:t>
            </a:r>
            <a:endParaRPr>
              <a:latin typeface="Arial"/>
              <a:ea typeface="Arial"/>
              <a:cs typeface="Arial"/>
              <a:sym typeface="Arial"/>
            </a:endParaRPr>
          </a:p>
          <a:p>
            <a:pPr indent="0" lvl="0" marL="0" rtl="0" algn="ctr">
              <a:spcBef>
                <a:spcPts val="0"/>
              </a:spcBef>
              <a:spcAft>
                <a:spcPts val="0"/>
              </a:spcAft>
              <a:buNone/>
            </a:pPr>
            <a:r>
              <a:t/>
            </a:r>
            <a:endParaRPr>
              <a:latin typeface="Arial"/>
              <a:ea typeface="Arial"/>
              <a:cs typeface="Arial"/>
              <a:sym typeface="Arial"/>
            </a:endParaRPr>
          </a:p>
          <a:p>
            <a:pPr indent="0" lvl="0" marL="0" rtl="0" algn="ctr">
              <a:spcBef>
                <a:spcPts val="0"/>
              </a:spcBef>
              <a:spcAft>
                <a:spcPts val="0"/>
              </a:spcAft>
              <a:buNone/>
            </a:pPr>
            <a:r>
              <a:t/>
            </a:r>
            <a:endParaRPr>
              <a:latin typeface="Arial"/>
              <a:ea typeface="Arial"/>
              <a:cs typeface="Arial"/>
              <a:sym typeface="Arial"/>
            </a:endParaRPr>
          </a:p>
        </p:txBody>
      </p:sp>
      <p:cxnSp>
        <p:nvCxnSpPr>
          <p:cNvPr id="123" name="Google Shape;123;p27"/>
          <p:cNvCxnSpPr>
            <a:stCxn id="124" idx="3"/>
            <a:endCxn id="125" idx="1"/>
          </p:cNvCxnSpPr>
          <p:nvPr/>
        </p:nvCxnSpPr>
        <p:spPr>
          <a:xfrm>
            <a:off x="4270250" y="1935663"/>
            <a:ext cx="488700" cy="600"/>
          </a:xfrm>
          <a:prstGeom prst="bentConnector3">
            <a:avLst>
              <a:gd fmla="val 50005" name="adj1"/>
            </a:avLst>
          </a:prstGeom>
          <a:noFill/>
          <a:ln cap="flat" cmpd="sng" w="19050">
            <a:solidFill>
              <a:schemeClr val="dk1"/>
            </a:solidFill>
            <a:prstDash val="solid"/>
            <a:round/>
            <a:headEnd len="med" w="med" type="none"/>
            <a:tailEnd len="med" w="med" type="none"/>
          </a:ln>
        </p:spPr>
      </p:cxnSp>
      <p:cxnSp>
        <p:nvCxnSpPr>
          <p:cNvPr id="126" name="Google Shape;126;p27"/>
          <p:cNvCxnSpPr>
            <a:stCxn id="127" idx="3"/>
            <a:endCxn id="128" idx="1"/>
          </p:cNvCxnSpPr>
          <p:nvPr/>
        </p:nvCxnSpPr>
        <p:spPr>
          <a:xfrm>
            <a:off x="4270300" y="3450013"/>
            <a:ext cx="488700" cy="600"/>
          </a:xfrm>
          <a:prstGeom prst="bentConnector3">
            <a:avLst>
              <a:gd fmla="val 50000" name="adj1"/>
            </a:avLst>
          </a:prstGeom>
          <a:noFill/>
          <a:ln cap="flat" cmpd="sng" w="19050">
            <a:solidFill>
              <a:schemeClr val="dk1"/>
            </a:solidFill>
            <a:prstDash val="solid"/>
            <a:round/>
            <a:headEnd len="med" w="med" type="none"/>
            <a:tailEnd len="med" w="med" type="none"/>
          </a:ln>
        </p:spPr>
      </p:cxnSp>
      <p:cxnSp>
        <p:nvCxnSpPr>
          <p:cNvPr id="129" name="Google Shape;129;p27"/>
          <p:cNvCxnSpPr>
            <a:stCxn id="124" idx="2"/>
            <a:endCxn id="127" idx="0"/>
          </p:cNvCxnSpPr>
          <p:nvPr/>
        </p:nvCxnSpPr>
        <p:spPr>
          <a:xfrm>
            <a:off x="3714050" y="2491863"/>
            <a:ext cx="0" cy="402000"/>
          </a:xfrm>
          <a:prstGeom prst="straightConnector1">
            <a:avLst/>
          </a:prstGeom>
          <a:noFill/>
          <a:ln cap="flat" cmpd="sng" w="19050">
            <a:solidFill>
              <a:schemeClr val="dk1"/>
            </a:solidFill>
            <a:prstDash val="solid"/>
            <a:round/>
            <a:headEnd len="med" w="med" type="none"/>
            <a:tailEnd len="med" w="med" type="none"/>
          </a:ln>
        </p:spPr>
      </p:cxnSp>
      <p:sp>
        <p:nvSpPr>
          <p:cNvPr id="124" name="Google Shape;124;p27"/>
          <p:cNvSpPr/>
          <p:nvPr/>
        </p:nvSpPr>
        <p:spPr>
          <a:xfrm>
            <a:off x="3157850" y="1379463"/>
            <a:ext cx="1112400" cy="1112400"/>
          </a:xfrm>
          <a:prstGeom prst="roundRect">
            <a:avLst>
              <a:gd fmla="val 12505" name="adj"/>
            </a:avLst>
          </a:prstGeom>
          <a:solidFill>
            <a:srgbClr val="F6B80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lt1"/>
              </a:solidFill>
              <a:latin typeface="Montserrat SemiBold"/>
              <a:ea typeface="Montserrat SemiBold"/>
              <a:cs typeface="Montserrat SemiBold"/>
              <a:sym typeface="Montserrat SemiBold"/>
            </a:endParaRPr>
          </a:p>
        </p:txBody>
      </p:sp>
      <p:sp>
        <p:nvSpPr>
          <p:cNvPr id="125" name="Google Shape;125;p27"/>
          <p:cNvSpPr/>
          <p:nvPr/>
        </p:nvSpPr>
        <p:spPr>
          <a:xfrm>
            <a:off x="4759000" y="1379463"/>
            <a:ext cx="1112400" cy="1112400"/>
          </a:xfrm>
          <a:prstGeom prst="roundRect">
            <a:avLst>
              <a:gd fmla="val 12505" name="adj"/>
            </a:avLst>
          </a:prstGeom>
          <a:solidFill>
            <a:srgbClr val="F4652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lt1"/>
              </a:solidFill>
              <a:latin typeface="Montserrat SemiBold"/>
              <a:ea typeface="Montserrat SemiBold"/>
              <a:cs typeface="Montserrat SemiBold"/>
              <a:sym typeface="Montserrat SemiBold"/>
            </a:endParaRPr>
          </a:p>
        </p:txBody>
      </p:sp>
      <p:sp>
        <p:nvSpPr>
          <p:cNvPr id="128" name="Google Shape;128;p27"/>
          <p:cNvSpPr/>
          <p:nvPr/>
        </p:nvSpPr>
        <p:spPr>
          <a:xfrm>
            <a:off x="4759000" y="2893813"/>
            <a:ext cx="1112400" cy="1112400"/>
          </a:xfrm>
          <a:prstGeom prst="roundRect">
            <a:avLst>
              <a:gd fmla="val 12505" name="adj"/>
            </a:avLst>
          </a:prstGeom>
          <a:solidFill>
            <a:srgbClr val="FF008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lt1"/>
              </a:solidFill>
              <a:latin typeface="Montserrat SemiBold"/>
              <a:ea typeface="Montserrat SemiBold"/>
              <a:cs typeface="Montserrat SemiBold"/>
              <a:sym typeface="Montserrat SemiBold"/>
            </a:endParaRPr>
          </a:p>
        </p:txBody>
      </p:sp>
      <p:sp>
        <p:nvSpPr>
          <p:cNvPr id="127" name="Google Shape;127;p27"/>
          <p:cNvSpPr/>
          <p:nvPr/>
        </p:nvSpPr>
        <p:spPr>
          <a:xfrm>
            <a:off x="3157900" y="2893813"/>
            <a:ext cx="1112400" cy="1112400"/>
          </a:xfrm>
          <a:prstGeom prst="roundRect">
            <a:avLst>
              <a:gd fmla="val 12505"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lt1"/>
              </a:solidFill>
              <a:latin typeface="Montserrat SemiBold"/>
              <a:ea typeface="Montserrat SemiBold"/>
              <a:cs typeface="Montserrat SemiBold"/>
              <a:sym typeface="Montserrat SemiBold"/>
            </a:endParaRPr>
          </a:p>
        </p:txBody>
      </p:sp>
      <p:cxnSp>
        <p:nvCxnSpPr>
          <p:cNvPr id="130" name="Google Shape;130;p27"/>
          <p:cNvCxnSpPr>
            <a:stCxn id="128" idx="0"/>
            <a:endCxn id="125" idx="2"/>
          </p:cNvCxnSpPr>
          <p:nvPr/>
        </p:nvCxnSpPr>
        <p:spPr>
          <a:xfrm rot="10800000">
            <a:off x="5315200" y="2491813"/>
            <a:ext cx="0" cy="402000"/>
          </a:xfrm>
          <a:prstGeom prst="straightConnector1">
            <a:avLst/>
          </a:prstGeom>
          <a:noFill/>
          <a:ln cap="flat" cmpd="sng" w="19050">
            <a:solidFill>
              <a:schemeClr val="dk1"/>
            </a:solidFill>
            <a:prstDash val="solid"/>
            <a:round/>
            <a:headEnd len="med" w="med" type="none"/>
            <a:tailEnd len="med" w="med" type="none"/>
          </a:ln>
        </p:spPr>
      </p:cxnSp>
      <p:sp>
        <p:nvSpPr>
          <p:cNvPr id="131" name="Google Shape;131;p27"/>
          <p:cNvSpPr txBox="1"/>
          <p:nvPr/>
        </p:nvSpPr>
        <p:spPr>
          <a:xfrm>
            <a:off x="6038075" y="1401300"/>
            <a:ext cx="2804100" cy="33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1"/>
                </a:solidFill>
              </a:rPr>
              <a:t>Ensure Business Continuity</a:t>
            </a:r>
            <a:endParaRPr b="1">
              <a:solidFill>
                <a:schemeClr val="dk1"/>
              </a:solidFill>
            </a:endParaRPr>
          </a:p>
        </p:txBody>
      </p:sp>
      <p:sp>
        <p:nvSpPr>
          <p:cNvPr id="132" name="Google Shape;132;p27"/>
          <p:cNvSpPr txBox="1"/>
          <p:nvPr/>
        </p:nvSpPr>
        <p:spPr>
          <a:xfrm>
            <a:off x="6038075" y="1653925"/>
            <a:ext cx="2331900" cy="8379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lang="en" sz="900">
                <a:solidFill>
                  <a:schemeClr val="dk1"/>
                </a:solidFill>
              </a:rPr>
              <a:t>Maintain secure operations with robust defenses.</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Regularly update and configure systems.</a:t>
            </a:r>
            <a:endParaRPr sz="1200">
              <a:solidFill>
                <a:schemeClr val="dk1"/>
              </a:solidFill>
              <a:latin typeface="Montserrat Medium"/>
              <a:ea typeface="Montserrat Medium"/>
              <a:cs typeface="Montserrat Medium"/>
              <a:sym typeface="Montserrat Medium"/>
            </a:endParaRPr>
          </a:p>
        </p:txBody>
      </p:sp>
      <p:sp>
        <p:nvSpPr>
          <p:cNvPr id="133" name="Google Shape;133;p27"/>
          <p:cNvSpPr txBox="1"/>
          <p:nvPr/>
        </p:nvSpPr>
        <p:spPr>
          <a:xfrm>
            <a:off x="6038075" y="2915683"/>
            <a:ext cx="2331900" cy="33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Enhance Customer Trust</a:t>
            </a:r>
            <a:endParaRPr b="1" sz="1300">
              <a:solidFill>
                <a:schemeClr val="dk1"/>
              </a:solidFill>
            </a:endParaRPr>
          </a:p>
        </p:txBody>
      </p:sp>
      <p:sp>
        <p:nvSpPr>
          <p:cNvPr id="134" name="Google Shape;134;p27"/>
          <p:cNvSpPr txBox="1"/>
          <p:nvPr/>
        </p:nvSpPr>
        <p:spPr>
          <a:xfrm>
            <a:off x="6038075" y="3168325"/>
            <a:ext cx="2331900" cy="8379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lang="en" sz="900">
                <a:solidFill>
                  <a:schemeClr val="dk1"/>
                </a:solidFill>
              </a:rPr>
              <a:t>Share security updates in reports and newsletters.</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Promote privacy measures like MFA and customer education.</a:t>
            </a:r>
            <a:endParaRPr sz="900">
              <a:solidFill>
                <a:schemeClr val="dk1"/>
              </a:solidFill>
            </a:endParaRPr>
          </a:p>
        </p:txBody>
      </p:sp>
      <p:sp>
        <p:nvSpPr>
          <p:cNvPr id="135" name="Google Shape;135;p27"/>
          <p:cNvSpPr txBox="1"/>
          <p:nvPr/>
        </p:nvSpPr>
        <p:spPr>
          <a:xfrm>
            <a:off x="659275" y="1401282"/>
            <a:ext cx="2331900" cy="33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a:solidFill>
                  <a:schemeClr val="dk1"/>
                </a:solidFill>
              </a:rPr>
              <a:t>Protect Critical Assets</a:t>
            </a:r>
            <a:endParaRPr b="1">
              <a:solidFill>
                <a:schemeClr val="dk1"/>
              </a:solidFill>
            </a:endParaRPr>
          </a:p>
        </p:txBody>
      </p:sp>
      <p:sp>
        <p:nvSpPr>
          <p:cNvPr id="136" name="Google Shape;136;p27"/>
          <p:cNvSpPr txBox="1"/>
          <p:nvPr/>
        </p:nvSpPr>
        <p:spPr>
          <a:xfrm>
            <a:off x="659275" y="1653925"/>
            <a:ext cx="2331900" cy="8379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lang="en" sz="900">
                <a:solidFill>
                  <a:schemeClr val="dk1"/>
                </a:solidFill>
              </a:rPr>
              <a:t>Safeguard data, IP, and IT systems.</a:t>
            </a:r>
            <a:endParaRPr sz="900">
              <a:solidFill>
                <a:schemeClr val="dk1"/>
              </a:solidFill>
            </a:endParaRPr>
          </a:p>
          <a:p>
            <a:pPr indent="-285750" lvl="0" marL="457200" rtl="0" algn="l">
              <a:spcBef>
                <a:spcPts val="0"/>
              </a:spcBef>
              <a:spcAft>
                <a:spcPts val="0"/>
              </a:spcAft>
              <a:buClr>
                <a:schemeClr val="dk1"/>
              </a:buClr>
              <a:buSzPts val="900"/>
              <a:buChar char="●"/>
            </a:pPr>
            <a:r>
              <a:rPr lang="en" sz="900">
                <a:solidFill>
                  <a:schemeClr val="dk1"/>
                </a:solidFill>
              </a:rPr>
              <a:t>Use antivirus, firewalls, IDS/IPS, SIEM, and regular patches.</a:t>
            </a:r>
            <a:endParaRPr sz="900">
              <a:solidFill>
                <a:schemeClr val="dk1"/>
              </a:solidFill>
            </a:endParaRPr>
          </a:p>
        </p:txBody>
      </p:sp>
      <p:sp>
        <p:nvSpPr>
          <p:cNvPr id="137" name="Google Shape;137;p27"/>
          <p:cNvSpPr txBox="1"/>
          <p:nvPr/>
        </p:nvSpPr>
        <p:spPr>
          <a:xfrm>
            <a:off x="301825" y="2915675"/>
            <a:ext cx="2689200" cy="33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300">
                <a:solidFill>
                  <a:schemeClr val="dk1"/>
                </a:solidFill>
              </a:rPr>
              <a:t>Ensure Regulatory Compliance</a:t>
            </a:r>
            <a:endParaRPr b="1" sz="1300">
              <a:solidFill>
                <a:schemeClr val="dk1"/>
              </a:solidFill>
            </a:endParaRPr>
          </a:p>
        </p:txBody>
      </p:sp>
      <p:sp>
        <p:nvSpPr>
          <p:cNvPr id="138" name="Google Shape;138;p27"/>
          <p:cNvSpPr txBox="1"/>
          <p:nvPr/>
        </p:nvSpPr>
        <p:spPr>
          <a:xfrm>
            <a:off x="659275" y="3168325"/>
            <a:ext cx="2331900" cy="837900"/>
          </a:xfrm>
          <a:prstGeom prst="rect">
            <a:avLst/>
          </a:prstGeom>
          <a:noFill/>
          <a:ln>
            <a:noFill/>
          </a:ln>
        </p:spPr>
        <p:txBody>
          <a:bodyPr anchorCtr="0" anchor="t" bIns="91425" lIns="91425" spcFirstLastPara="1" rIns="91425" wrap="square" tIns="91425">
            <a:noAutofit/>
          </a:bodyPr>
          <a:lstStyle/>
          <a:p>
            <a:pPr indent="-285750" lvl="0" marL="457200" rtl="0" algn="l">
              <a:spcBef>
                <a:spcPts val="0"/>
              </a:spcBef>
              <a:spcAft>
                <a:spcPts val="0"/>
              </a:spcAft>
              <a:buClr>
                <a:schemeClr val="dk1"/>
              </a:buClr>
              <a:buSzPts val="900"/>
              <a:buChar char="●"/>
            </a:pPr>
            <a:r>
              <a:rPr lang="en" sz="900">
                <a:solidFill>
                  <a:schemeClr val="dk1"/>
                </a:solidFill>
              </a:rPr>
              <a:t>Establish GRC team for audits and compliance.</a:t>
            </a:r>
            <a:endParaRPr sz="900">
              <a:solidFill>
                <a:schemeClr val="dk1"/>
              </a:solidFill>
            </a:endParaRPr>
          </a:p>
        </p:txBody>
      </p:sp>
      <p:sp>
        <p:nvSpPr>
          <p:cNvPr id="139" name="Google Shape;139;p27"/>
          <p:cNvSpPr/>
          <p:nvPr/>
        </p:nvSpPr>
        <p:spPr>
          <a:xfrm>
            <a:off x="3539897" y="1763493"/>
            <a:ext cx="348306" cy="344370"/>
          </a:xfrm>
          <a:custGeom>
            <a:rect b="b" l="l" r="r" t="t"/>
            <a:pathLst>
              <a:path extrusionOk="0" h="10674" w="10796">
                <a:moveTo>
                  <a:pt x="4158" y="2945"/>
                </a:moveTo>
                <a:lnTo>
                  <a:pt x="4604" y="3391"/>
                </a:lnTo>
                <a:lnTo>
                  <a:pt x="3961" y="4033"/>
                </a:lnTo>
                <a:lnTo>
                  <a:pt x="4604" y="4693"/>
                </a:lnTo>
                <a:lnTo>
                  <a:pt x="4158" y="5122"/>
                </a:lnTo>
                <a:lnTo>
                  <a:pt x="3087" y="4033"/>
                </a:lnTo>
                <a:lnTo>
                  <a:pt x="4158" y="2945"/>
                </a:lnTo>
                <a:close/>
                <a:moveTo>
                  <a:pt x="6656" y="2945"/>
                </a:moveTo>
                <a:lnTo>
                  <a:pt x="7726" y="4033"/>
                </a:lnTo>
                <a:lnTo>
                  <a:pt x="6656" y="5122"/>
                </a:lnTo>
                <a:lnTo>
                  <a:pt x="6210" y="4693"/>
                </a:lnTo>
                <a:lnTo>
                  <a:pt x="6852" y="4033"/>
                </a:lnTo>
                <a:lnTo>
                  <a:pt x="6210" y="3391"/>
                </a:lnTo>
                <a:lnTo>
                  <a:pt x="6656" y="2945"/>
                </a:lnTo>
                <a:close/>
                <a:moveTo>
                  <a:pt x="5585" y="2909"/>
                </a:moveTo>
                <a:lnTo>
                  <a:pt x="6156" y="3177"/>
                </a:lnTo>
                <a:lnTo>
                  <a:pt x="5228" y="5157"/>
                </a:lnTo>
                <a:lnTo>
                  <a:pt x="4657" y="4890"/>
                </a:lnTo>
                <a:lnTo>
                  <a:pt x="5585" y="2909"/>
                </a:lnTo>
                <a:close/>
                <a:moveTo>
                  <a:pt x="4514" y="1"/>
                </a:moveTo>
                <a:cubicBezTo>
                  <a:pt x="3551" y="1"/>
                  <a:pt x="2659" y="572"/>
                  <a:pt x="2266" y="1446"/>
                </a:cubicBezTo>
                <a:cubicBezTo>
                  <a:pt x="1695" y="1500"/>
                  <a:pt x="1178" y="1767"/>
                  <a:pt x="785" y="2178"/>
                </a:cubicBezTo>
                <a:cubicBezTo>
                  <a:pt x="357" y="2606"/>
                  <a:pt x="107" y="3159"/>
                  <a:pt x="89" y="3766"/>
                </a:cubicBezTo>
                <a:cubicBezTo>
                  <a:pt x="0" y="5193"/>
                  <a:pt x="1142" y="6353"/>
                  <a:pt x="2570" y="6353"/>
                </a:cubicBezTo>
                <a:lnTo>
                  <a:pt x="2587" y="6353"/>
                </a:lnTo>
                <a:lnTo>
                  <a:pt x="2587" y="7548"/>
                </a:lnTo>
                <a:lnTo>
                  <a:pt x="1892" y="7548"/>
                </a:lnTo>
                <a:cubicBezTo>
                  <a:pt x="1767" y="7173"/>
                  <a:pt x="1428" y="6906"/>
                  <a:pt x="1017" y="6906"/>
                </a:cubicBezTo>
                <a:cubicBezTo>
                  <a:pt x="500" y="6906"/>
                  <a:pt x="72" y="7334"/>
                  <a:pt x="72" y="7852"/>
                </a:cubicBezTo>
                <a:cubicBezTo>
                  <a:pt x="72" y="8369"/>
                  <a:pt x="500" y="8797"/>
                  <a:pt x="1017" y="8797"/>
                </a:cubicBezTo>
                <a:cubicBezTo>
                  <a:pt x="1428" y="8797"/>
                  <a:pt x="1892" y="8155"/>
                  <a:pt x="1892" y="8155"/>
                </a:cubicBezTo>
                <a:lnTo>
                  <a:pt x="3212" y="8155"/>
                </a:lnTo>
                <a:lnTo>
                  <a:pt x="3212" y="6353"/>
                </a:lnTo>
                <a:lnTo>
                  <a:pt x="4158" y="6353"/>
                </a:lnTo>
                <a:lnTo>
                  <a:pt x="4158" y="9422"/>
                </a:lnTo>
                <a:lnTo>
                  <a:pt x="3480" y="9422"/>
                </a:lnTo>
                <a:cubicBezTo>
                  <a:pt x="3341" y="9059"/>
                  <a:pt x="2986" y="8796"/>
                  <a:pt x="2574" y="8796"/>
                </a:cubicBezTo>
                <a:cubicBezTo>
                  <a:pt x="2561" y="8796"/>
                  <a:pt x="2547" y="8797"/>
                  <a:pt x="2534" y="8797"/>
                </a:cubicBezTo>
                <a:cubicBezTo>
                  <a:pt x="2070" y="8815"/>
                  <a:pt x="1677" y="9190"/>
                  <a:pt x="1642" y="9654"/>
                </a:cubicBezTo>
                <a:cubicBezTo>
                  <a:pt x="1606" y="10207"/>
                  <a:pt x="2034" y="10671"/>
                  <a:pt x="2587" y="10671"/>
                </a:cubicBezTo>
                <a:cubicBezTo>
                  <a:pt x="2998" y="10671"/>
                  <a:pt x="3337" y="10421"/>
                  <a:pt x="3480" y="10046"/>
                </a:cubicBezTo>
                <a:lnTo>
                  <a:pt x="4782" y="10046"/>
                </a:lnTo>
                <a:lnTo>
                  <a:pt x="4782" y="6371"/>
                </a:lnTo>
                <a:lnTo>
                  <a:pt x="6031" y="6371"/>
                </a:lnTo>
                <a:lnTo>
                  <a:pt x="6031" y="10046"/>
                </a:lnTo>
                <a:lnTo>
                  <a:pt x="7351" y="10046"/>
                </a:lnTo>
                <a:cubicBezTo>
                  <a:pt x="7469" y="10400"/>
                  <a:pt x="7809" y="10674"/>
                  <a:pt x="8207" y="10674"/>
                </a:cubicBezTo>
                <a:cubicBezTo>
                  <a:pt x="8231" y="10674"/>
                  <a:pt x="8255" y="10673"/>
                  <a:pt x="8279" y="10671"/>
                </a:cubicBezTo>
                <a:cubicBezTo>
                  <a:pt x="8743" y="10653"/>
                  <a:pt x="9136" y="10278"/>
                  <a:pt x="9171" y="9814"/>
                </a:cubicBezTo>
                <a:cubicBezTo>
                  <a:pt x="9207" y="9261"/>
                  <a:pt x="8779" y="8797"/>
                  <a:pt x="8226" y="8797"/>
                </a:cubicBezTo>
                <a:cubicBezTo>
                  <a:pt x="7815" y="8797"/>
                  <a:pt x="7476" y="9065"/>
                  <a:pt x="7351" y="9422"/>
                </a:cubicBezTo>
                <a:lnTo>
                  <a:pt x="6656" y="9422"/>
                </a:lnTo>
                <a:lnTo>
                  <a:pt x="6656" y="6371"/>
                </a:lnTo>
                <a:lnTo>
                  <a:pt x="7601" y="6371"/>
                </a:lnTo>
                <a:lnTo>
                  <a:pt x="7601" y="8173"/>
                </a:lnTo>
                <a:lnTo>
                  <a:pt x="8922" y="8173"/>
                </a:lnTo>
                <a:cubicBezTo>
                  <a:pt x="9046" y="8530"/>
                  <a:pt x="9403" y="8797"/>
                  <a:pt x="9796" y="8797"/>
                </a:cubicBezTo>
                <a:cubicBezTo>
                  <a:pt x="10331" y="8797"/>
                  <a:pt x="10742" y="8369"/>
                  <a:pt x="10742" y="7852"/>
                </a:cubicBezTo>
                <a:cubicBezTo>
                  <a:pt x="10742" y="7334"/>
                  <a:pt x="10331" y="6906"/>
                  <a:pt x="9796" y="6906"/>
                </a:cubicBezTo>
                <a:cubicBezTo>
                  <a:pt x="9403" y="6906"/>
                  <a:pt x="8922" y="7530"/>
                  <a:pt x="8922" y="7530"/>
                </a:cubicBezTo>
                <a:lnTo>
                  <a:pt x="8244" y="7530"/>
                </a:lnTo>
                <a:lnTo>
                  <a:pt x="8244" y="6353"/>
                </a:lnTo>
                <a:lnTo>
                  <a:pt x="8975" y="6353"/>
                </a:lnTo>
                <a:cubicBezTo>
                  <a:pt x="9992" y="6353"/>
                  <a:pt x="10795" y="5532"/>
                  <a:pt x="10759" y="4515"/>
                </a:cubicBezTo>
                <a:cubicBezTo>
                  <a:pt x="10724" y="4105"/>
                  <a:pt x="10563" y="3694"/>
                  <a:pt x="10260" y="3391"/>
                </a:cubicBezTo>
                <a:cubicBezTo>
                  <a:pt x="9992" y="3123"/>
                  <a:pt x="9653" y="2945"/>
                  <a:pt x="9296" y="2891"/>
                </a:cubicBezTo>
                <a:cubicBezTo>
                  <a:pt x="9011" y="2035"/>
                  <a:pt x="8208" y="1428"/>
                  <a:pt x="7280" y="1428"/>
                </a:cubicBezTo>
                <a:cubicBezTo>
                  <a:pt x="7119" y="1428"/>
                  <a:pt x="6941" y="1446"/>
                  <a:pt x="6780" y="1482"/>
                </a:cubicBezTo>
                <a:cubicBezTo>
                  <a:pt x="6406" y="590"/>
                  <a:pt x="5514" y="1"/>
                  <a:pt x="451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endParaRPr>
          </a:p>
        </p:txBody>
      </p:sp>
      <p:grpSp>
        <p:nvGrpSpPr>
          <p:cNvPr id="140" name="Google Shape;140;p27"/>
          <p:cNvGrpSpPr/>
          <p:nvPr/>
        </p:nvGrpSpPr>
        <p:grpSpPr>
          <a:xfrm>
            <a:off x="5142781" y="1763543"/>
            <a:ext cx="344854" cy="344273"/>
            <a:chOff x="7018752" y="3778180"/>
            <a:chExt cx="344854" cy="344273"/>
          </a:xfrm>
        </p:grpSpPr>
        <p:sp>
          <p:nvSpPr>
            <p:cNvPr id="141" name="Google Shape;141;p27"/>
            <p:cNvSpPr/>
            <p:nvPr/>
          </p:nvSpPr>
          <p:spPr>
            <a:xfrm>
              <a:off x="7093601" y="3853029"/>
              <a:ext cx="195188" cy="194607"/>
            </a:xfrm>
            <a:custGeom>
              <a:rect b="b" l="l" r="r" t="t"/>
              <a:pathLst>
                <a:path extrusionOk="0" h="6032" w="6050">
                  <a:moveTo>
                    <a:pt x="4996" y="1695"/>
                  </a:moveTo>
                  <a:lnTo>
                    <a:pt x="4996" y="2320"/>
                  </a:lnTo>
                  <a:lnTo>
                    <a:pt x="4033" y="2356"/>
                  </a:lnTo>
                  <a:cubicBezTo>
                    <a:pt x="4015" y="2356"/>
                    <a:pt x="3979" y="2356"/>
                    <a:pt x="3962" y="2373"/>
                  </a:cubicBezTo>
                  <a:cubicBezTo>
                    <a:pt x="3890" y="2409"/>
                    <a:pt x="3855" y="2480"/>
                    <a:pt x="3855" y="2552"/>
                  </a:cubicBezTo>
                  <a:cubicBezTo>
                    <a:pt x="3872" y="2641"/>
                    <a:pt x="3962" y="2695"/>
                    <a:pt x="4033" y="2695"/>
                  </a:cubicBezTo>
                  <a:lnTo>
                    <a:pt x="4372" y="2695"/>
                  </a:lnTo>
                  <a:cubicBezTo>
                    <a:pt x="4818" y="2695"/>
                    <a:pt x="5175" y="3069"/>
                    <a:pt x="5175" y="3515"/>
                  </a:cubicBezTo>
                  <a:cubicBezTo>
                    <a:pt x="5175" y="3961"/>
                    <a:pt x="4818" y="4336"/>
                    <a:pt x="4372" y="4336"/>
                  </a:cubicBezTo>
                  <a:lnTo>
                    <a:pt x="3391" y="4336"/>
                  </a:lnTo>
                  <a:lnTo>
                    <a:pt x="3391" y="3712"/>
                  </a:lnTo>
                  <a:lnTo>
                    <a:pt x="4354" y="3712"/>
                  </a:lnTo>
                  <a:cubicBezTo>
                    <a:pt x="4443" y="3712"/>
                    <a:pt x="4533" y="3640"/>
                    <a:pt x="4550" y="3551"/>
                  </a:cubicBezTo>
                  <a:cubicBezTo>
                    <a:pt x="4568" y="3426"/>
                    <a:pt x="4479" y="3337"/>
                    <a:pt x="4372" y="3337"/>
                  </a:cubicBezTo>
                  <a:lnTo>
                    <a:pt x="4051" y="3337"/>
                  </a:lnTo>
                  <a:cubicBezTo>
                    <a:pt x="3623" y="3337"/>
                    <a:pt x="3230" y="2980"/>
                    <a:pt x="3230" y="2534"/>
                  </a:cubicBezTo>
                  <a:cubicBezTo>
                    <a:pt x="3212" y="2320"/>
                    <a:pt x="3301" y="2106"/>
                    <a:pt x="3462" y="1945"/>
                  </a:cubicBezTo>
                  <a:cubicBezTo>
                    <a:pt x="3623" y="1785"/>
                    <a:pt x="3819" y="1695"/>
                    <a:pt x="4033" y="1695"/>
                  </a:cubicBezTo>
                  <a:close/>
                  <a:moveTo>
                    <a:pt x="1817" y="1695"/>
                  </a:moveTo>
                  <a:cubicBezTo>
                    <a:pt x="2356" y="1695"/>
                    <a:pt x="2820" y="2134"/>
                    <a:pt x="2820" y="2677"/>
                  </a:cubicBezTo>
                  <a:lnTo>
                    <a:pt x="2820" y="3355"/>
                  </a:lnTo>
                  <a:cubicBezTo>
                    <a:pt x="2820" y="3897"/>
                    <a:pt x="2356" y="4337"/>
                    <a:pt x="1817" y="4337"/>
                  </a:cubicBezTo>
                  <a:cubicBezTo>
                    <a:pt x="1806" y="4337"/>
                    <a:pt x="1795" y="4336"/>
                    <a:pt x="1785" y="4336"/>
                  </a:cubicBezTo>
                  <a:cubicBezTo>
                    <a:pt x="1249" y="4300"/>
                    <a:pt x="857" y="3854"/>
                    <a:pt x="857" y="3337"/>
                  </a:cubicBezTo>
                  <a:lnTo>
                    <a:pt x="857" y="2695"/>
                  </a:lnTo>
                  <a:cubicBezTo>
                    <a:pt x="857" y="2177"/>
                    <a:pt x="1249" y="1731"/>
                    <a:pt x="1785" y="1695"/>
                  </a:cubicBezTo>
                  <a:cubicBezTo>
                    <a:pt x="1795" y="1695"/>
                    <a:pt x="1806" y="1695"/>
                    <a:pt x="1817" y="1695"/>
                  </a:cubicBezTo>
                  <a:close/>
                  <a:moveTo>
                    <a:pt x="3016" y="0"/>
                  </a:moveTo>
                  <a:cubicBezTo>
                    <a:pt x="1357" y="0"/>
                    <a:pt x="1" y="1356"/>
                    <a:pt x="1" y="3016"/>
                  </a:cubicBezTo>
                  <a:cubicBezTo>
                    <a:pt x="1" y="4675"/>
                    <a:pt x="1357" y="6031"/>
                    <a:pt x="3016" y="6031"/>
                  </a:cubicBezTo>
                  <a:cubicBezTo>
                    <a:pt x="4693" y="6031"/>
                    <a:pt x="6049" y="4675"/>
                    <a:pt x="6049" y="3016"/>
                  </a:cubicBezTo>
                  <a:cubicBezTo>
                    <a:pt x="6049" y="1356"/>
                    <a:pt x="4693" y="0"/>
                    <a:pt x="3016"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7"/>
            <p:cNvSpPr/>
            <p:nvPr/>
          </p:nvSpPr>
          <p:spPr>
            <a:xfrm>
              <a:off x="7141382" y="3927814"/>
              <a:ext cx="23068" cy="45006"/>
            </a:xfrm>
            <a:custGeom>
              <a:rect b="b" l="l" r="r" t="t"/>
              <a:pathLst>
                <a:path extrusionOk="0" h="1395" w="715">
                  <a:moveTo>
                    <a:pt x="351" y="1"/>
                  </a:moveTo>
                  <a:cubicBezTo>
                    <a:pt x="341" y="1"/>
                    <a:pt x="332" y="1"/>
                    <a:pt x="322" y="2"/>
                  </a:cubicBezTo>
                  <a:cubicBezTo>
                    <a:pt x="143" y="20"/>
                    <a:pt x="0" y="198"/>
                    <a:pt x="0" y="377"/>
                  </a:cubicBezTo>
                  <a:lnTo>
                    <a:pt x="0" y="1019"/>
                  </a:lnTo>
                  <a:cubicBezTo>
                    <a:pt x="0" y="1197"/>
                    <a:pt x="143" y="1376"/>
                    <a:pt x="322" y="1394"/>
                  </a:cubicBezTo>
                  <a:cubicBezTo>
                    <a:pt x="332" y="1394"/>
                    <a:pt x="341" y="1395"/>
                    <a:pt x="351" y="1395"/>
                  </a:cubicBezTo>
                  <a:cubicBezTo>
                    <a:pt x="552" y="1395"/>
                    <a:pt x="714" y="1224"/>
                    <a:pt x="714" y="1037"/>
                  </a:cubicBezTo>
                  <a:lnTo>
                    <a:pt x="714" y="359"/>
                  </a:lnTo>
                  <a:cubicBezTo>
                    <a:pt x="714" y="172"/>
                    <a:pt x="552" y="1"/>
                    <a:pt x="351"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7"/>
            <p:cNvSpPr/>
            <p:nvPr/>
          </p:nvSpPr>
          <p:spPr>
            <a:xfrm>
              <a:off x="7018752" y="3778180"/>
              <a:ext cx="344854" cy="344273"/>
            </a:xfrm>
            <a:custGeom>
              <a:rect b="b" l="l" r="r" t="t"/>
              <a:pathLst>
                <a:path extrusionOk="0" h="10671" w="10689">
                  <a:moveTo>
                    <a:pt x="5336" y="1678"/>
                  </a:moveTo>
                  <a:cubicBezTo>
                    <a:pt x="7352" y="1678"/>
                    <a:pt x="8994" y="3319"/>
                    <a:pt x="8994" y="5336"/>
                  </a:cubicBezTo>
                  <a:cubicBezTo>
                    <a:pt x="8994" y="7352"/>
                    <a:pt x="7352" y="8993"/>
                    <a:pt x="5336" y="8993"/>
                  </a:cubicBezTo>
                  <a:cubicBezTo>
                    <a:pt x="3338" y="8993"/>
                    <a:pt x="1696" y="7352"/>
                    <a:pt x="1696" y="5336"/>
                  </a:cubicBezTo>
                  <a:cubicBezTo>
                    <a:pt x="1696" y="3319"/>
                    <a:pt x="3338" y="1678"/>
                    <a:pt x="5336" y="1678"/>
                  </a:cubicBezTo>
                  <a:close/>
                  <a:moveTo>
                    <a:pt x="4337" y="1"/>
                  </a:moveTo>
                  <a:lnTo>
                    <a:pt x="4337" y="768"/>
                  </a:lnTo>
                  <a:cubicBezTo>
                    <a:pt x="3801" y="893"/>
                    <a:pt x="3302" y="1107"/>
                    <a:pt x="2820" y="1392"/>
                  </a:cubicBezTo>
                  <a:lnTo>
                    <a:pt x="2267" y="857"/>
                  </a:lnTo>
                  <a:lnTo>
                    <a:pt x="857" y="2267"/>
                  </a:lnTo>
                  <a:lnTo>
                    <a:pt x="1411" y="2820"/>
                  </a:lnTo>
                  <a:cubicBezTo>
                    <a:pt x="1107" y="3284"/>
                    <a:pt x="893" y="3801"/>
                    <a:pt x="786" y="4337"/>
                  </a:cubicBezTo>
                  <a:lnTo>
                    <a:pt x="1" y="4337"/>
                  </a:lnTo>
                  <a:lnTo>
                    <a:pt x="1" y="6335"/>
                  </a:lnTo>
                  <a:lnTo>
                    <a:pt x="786" y="6335"/>
                  </a:lnTo>
                  <a:cubicBezTo>
                    <a:pt x="893" y="6870"/>
                    <a:pt x="1107" y="7388"/>
                    <a:pt x="1411" y="7852"/>
                  </a:cubicBezTo>
                  <a:lnTo>
                    <a:pt x="857" y="8405"/>
                  </a:lnTo>
                  <a:lnTo>
                    <a:pt x="2267" y="9814"/>
                  </a:lnTo>
                  <a:lnTo>
                    <a:pt x="2820" y="9261"/>
                  </a:lnTo>
                  <a:cubicBezTo>
                    <a:pt x="3302" y="9564"/>
                    <a:pt x="3801" y="9779"/>
                    <a:pt x="4337" y="9903"/>
                  </a:cubicBezTo>
                  <a:lnTo>
                    <a:pt x="4337" y="10671"/>
                  </a:lnTo>
                  <a:lnTo>
                    <a:pt x="6335" y="10671"/>
                  </a:lnTo>
                  <a:lnTo>
                    <a:pt x="6335" y="9903"/>
                  </a:lnTo>
                  <a:cubicBezTo>
                    <a:pt x="6870" y="9779"/>
                    <a:pt x="7388" y="9564"/>
                    <a:pt x="7852" y="9261"/>
                  </a:cubicBezTo>
                  <a:lnTo>
                    <a:pt x="8405" y="9814"/>
                  </a:lnTo>
                  <a:lnTo>
                    <a:pt x="9832" y="8405"/>
                  </a:lnTo>
                  <a:lnTo>
                    <a:pt x="9279" y="7852"/>
                  </a:lnTo>
                  <a:cubicBezTo>
                    <a:pt x="9582" y="7388"/>
                    <a:pt x="9797" y="6870"/>
                    <a:pt x="9904" y="6335"/>
                  </a:cubicBezTo>
                  <a:lnTo>
                    <a:pt x="10689" y="6335"/>
                  </a:lnTo>
                  <a:lnTo>
                    <a:pt x="10689" y="4337"/>
                  </a:lnTo>
                  <a:lnTo>
                    <a:pt x="9904" y="4337"/>
                  </a:lnTo>
                  <a:cubicBezTo>
                    <a:pt x="9797" y="3801"/>
                    <a:pt x="9582" y="3284"/>
                    <a:pt x="9279" y="2820"/>
                  </a:cubicBezTo>
                  <a:lnTo>
                    <a:pt x="9832" y="2267"/>
                  </a:lnTo>
                  <a:lnTo>
                    <a:pt x="8405" y="857"/>
                  </a:lnTo>
                  <a:lnTo>
                    <a:pt x="7852" y="1392"/>
                  </a:lnTo>
                  <a:cubicBezTo>
                    <a:pt x="7388" y="1107"/>
                    <a:pt x="6870" y="893"/>
                    <a:pt x="6335" y="768"/>
                  </a:cubicBezTo>
                  <a:lnTo>
                    <a:pt x="6335"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27"/>
          <p:cNvGrpSpPr/>
          <p:nvPr/>
        </p:nvGrpSpPr>
        <p:grpSpPr>
          <a:xfrm>
            <a:off x="5142777" y="3282243"/>
            <a:ext cx="344854" cy="344273"/>
            <a:chOff x="6270423" y="3778180"/>
            <a:chExt cx="344854" cy="344273"/>
          </a:xfrm>
        </p:grpSpPr>
        <p:sp>
          <p:nvSpPr>
            <p:cNvPr id="145" name="Google Shape;145;p27"/>
            <p:cNvSpPr/>
            <p:nvPr/>
          </p:nvSpPr>
          <p:spPr>
            <a:xfrm>
              <a:off x="6365985" y="3883517"/>
              <a:ext cx="32843" cy="82366"/>
            </a:xfrm>
            <a:custGeom>
              <a:rect b="b" l="l" r="r" t="t"/>
              <a:pathLst>
                <a:path extrusionOk="0" h="2553" w="1018">
                  <a:moveTo>
                    <a:pt x="714" y="1"/>
                  </a:moveTo>
                  <a:cubicBezTo>
                    <a:pt x="678" y="19"/>
                    <a:pt x="643" y="37"/>
                    <a:pt x="607" y="54"/>
                  </a:cubicBezTo>
                  <a:cubicBezTo>
                    <a:pt x="215" y="251"/>
                    <a:pt x="0" y="483"/>
                    <a:pt x="0" y="715"/>
                  </a:cubicBezTo>
                  <a:cubicBezTo>
                    <a:pt x="0" y="1428"/>
                    <a:pt x="393" y="2053"/>
                    <a:pt x="857" y="2552"/>
                  </a:cubicBezTo>
                  <a:lnTo>
                    <a:pt x="1017" y="1981"/>
                  </a:lnTo>
                  <a:cubicBezTo>
                    <a:pt x="821" y="1714"/>
                    <a:pt x="714" y="1375"/>
                    <a:pt x="714" y="1018"/>
                  </a:cubicBezTo>
                  <a:lnTo>
                    <a:pt x="714"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7"/>
            <p:cNvSpPr/>
            <p:nvPr/>
          </p:nvSpPr>
          <p:spPr>
            <a:xfrm>
              <a:off x="6478226" y="3969884"/>
              <a:ext cx="137051" cy="152569"/>
            </a:xfrm>
            <a:custGeom>
              <a:rect b="b" l="l" r="r" t="t"/>
              <a:pathLst>
                <a:path extrusionOk="0" h="4729" w="4248">
                  <a:moveTo>
                    <a:pt x="1125" y="0"/>
                  </a:moveTo>
                  <a:cubicBezTo>
                    <a:pt x="786" y="429"/>
                    <a:pt x="358" y="785"/>
                    <a:pt x="1" y="1053"/>
                  </a:cubicBezTo>
                  <a:lnTo>
                    <a:pt x="2409" y="1053"/>
                  </a:lnTo>
                  <a:lnTo>
                    <a:pt x="1910" y="4729"/>
                  </a:lnTo>
                  <a:lnTo>
                    <a:pt x="4247" y="4729"/>
                  </a:lnTo>
                  <a:lnTo>
                    <a:pt x="3569" y="714"/>
                  </a:lnTo>
                  <a:lnTo>
                    <a:pt x="112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7"/>
            <p:cNvSpPr/>
            <p:nvPr/>
          </p:nvSpPr>
          <p:spPr>
            <a:xfrm>
              <a:off x="6486292" y="3883517"/>
              <a:ext cx="33424" cy="82366"/>
            </a:xfrm>
            <a:custGeom>
              <a:rect b="b" l="l" r="r" t="t"/>
              <a:pathLst>
                <a:path extrusionOk="0" h="2553" w="1036">
                  <a:moveTo>
                    <a:pt x="322" y="1"/>
                  </a:moveTo>
                  <a:lnTo>
                    <a:pt x="322" y="1018"/>
                  </a:lnTo>
                  <a:cubicBezTo>
                    <a:pt x="322" y="1375"/>
                    <a:pt x="197" y="1714"/>
                    <a:pt x="1" y="1981"/>
                  </a:cubicBezTo>
                  <a:lnTo>
                    <a:pt x="161" y="2552"/>
                  </a:lnTo>
                  <a:cubicBezTo>
                    <a:pt x="643" y="2053"/>
                    <a:pt x="1035" y="1428"/>
                    <a:pt x="1035" y="715"/>
                  </a:cubicBezTo>
                  <a:cubicBezTo>
                    <a:pt x="1035" y="483"/>
                    <a:pt x="803" y="251"/>
                    <a:pt x="429" y="54"/>
                  </a:cubicBezTo>
                  <a:cubicBezTo>
                    <a:pt x="393" y="37"/>
                    <a:pt x="357" y="19"/>
                    <a:pt x="322"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7"/>
            <p:cNvSpPr/>
            <p:nvPr/>
          </p:nvSpPr>
          <p:spPr>
            <a:xfrm>
              <a:off x="6352757" y="4024569"/>
              <a:ext cx="180186" cy="97884"/>
            </a:xfrm>
            <a:custGeom>
              <a:rect b="b" l="l" r="r" t="t"/>
              <a:pathLst>
                <a:path extrusionOk="0" h="3034" w="5585">
                  <a:moveTo>
                    <a:pt x="3122" y="1035"/>
                  </a:moveTo>
                  <a:lnTo>
                    <a:pt x="3122" y="1660"/>
                  </a:lnTo>
                  <a:lnTo>
                    <a:pt x="2462" y="1660"/>
                  </a:lnTo>
                  <a:lnTo>
                    <a:pt x="2462" y="1035"/>
                  </a:lnTo>
                  <a:close/>
                  <a:moveTo>
                    <a:pt x="0" y="0"/>
                  </a:moveTo>
                  <a:lnTo>
                    <a:pt x="410" y="3034"/>
                  </a:lnTo>
                  <a:lnTo>
                    <a:pt x="5174" y="3034"/>
                  </a:lnTo>
                  <a:lnTo>
                    <a:pt x="5585"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7"/>
            <p:cNvSpPr/>
            <p:nvPr/>
          </p:nvSpPr>
          <p:spPr>
            <a:xfrm>
              <a:off x="6270423" y="3969884"/>
              <a:ext cx="137051" cy="152569"/>
            </a:xfrm>
            <a:custGeom>
              <a:rect b="b" l="l" r="r" t="t"/>
              <a:pathLst>
                <a:path extrusionOk="0" h="4729" w="4248">
                  <a:moveTo>
                    <a:pt x="3105" y="0"/>
                  </a:moveTo>
                  <a:lnTo>
                    <a:pt x="661" y="714"/>
                  </a:lnTo>
                  <a:lnTo>
                    <a:pt x="1" y="4729"/>
                  </a:lnTo>
                  <a:lnTo>
                    <a:pt x="2320" y="4729"/>
                  </a:lnTo>
                  <a:lnTo>
                    <a:pt x="1838" y="1053"/>
                  </a:lnTo>
                  <a:lnTo>
                    <a:pt x="4247" y="1053"/>
                  </a:lnTo>
                  <a:cubicBezTo>
                    <a:pt x="3872" y="785"/>
                    <a:pt x="3462" y="429"/>
                    <a:pt x="3105"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7"/>
            <p:cNvSpPr/>
            <p:nvPr/>
          </p:nvSpPr>
          <p:spPr>
            <a:xfrm>
              <a:off x="6355629" y="3778180"/>
              <a:ext cx="174443" cy="104240"/>
            </a:xfrm>
            <a:custGeom>
              <a:rect b="b" l="l" r="r" t="t"/>
              <a:pathLst>
                <a:path extrusionOk="0" h="3231" w="5407">
                  <a:moveTo>
                    <a:pt x="2694" y="1"/>
                  </a:moveTo>
                  <a:cubicBezTo>
                    <a:pt x="2694" y="1"/>
                    <a:pt x="72" y="607"/>
                    <a:pt x="0" y="3230"/>
                  </a:cubicBezTo>
                  <a:cubicBezTo>
                    <a:pt x="161" y="3052"/>
                    <a:pt x="375" y="2891"/>
                    <a:pt x="643" y="2749"/>
                  </a:cubicBezTo>
                  <a:cubicBezTo>
                    <a:pt x="1196" y="2481"/>
                    <a:pt x="1927" y="2338"/>
                    <a:pt x="2694" y="2338"/>
                  </a:cubicBezTo>
                  <a:cubicBezTo>
                    <a:pt x="3462" y="2338"/>
                    <a:pt x="4193" y="2481"/>
                    <a:pt x="4746" y="2749"/>
                  </a:cubicBezTo>
                  <a:cubicBezTo>
                    <a:pt x="5014" y="2891"/>
                    <a:pt x="5246" y="3052"/>
                    <a:pt x="5407" y="3230"/>
                  </a:cubicBezTo>
                  <a:cubicBezTo>
                    <a:pt x="5317" y="607"/>
                    <a:pt x="2694" y="1"/>
                    <a:pt x="26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7"/>
            <p:cNvSpPr/>
            <p:nvPr/>
          </p:nvSpPr>
          <p:spPr>
            <a:xfrm>
              <a:off x="6409733" y="3873742"/>
              <a:ext cx="66816" cy="76010"/>
            </a:xfrm>
            <a:custGeom>
              <a:rect b="b" l="l" r="r" t="t"/>
              <a:pathLst>
                <a:path extrusionOk="0" h="2356" w="2071">
                  <a:moveTo>
                    <a:pt x="1035" y="1"/>
                  </a:moveTo>
                  <a:cubicBezTo>
                    <a:pt x="678" y="1"/>
                    <a:pt x="322" y="36"/>
                    <a:pt x="0" y="108"/>
                  </a:cubicBezTo>
                  <a:lnTo>
                    <a:pt x="0" y="1321"/>
                  </a:lnTo>
                  <a:cubicBezTo>
                    <a:pt x="0" y="1606"/>
                    <a:pt x="107" y="1856"/>
                    <a:pt x="304" y="2053"/>
                  </a:cubicBezTo>
                  <a:cubicBezTo>
                    <a:pt x="500" y="2249"/>
                    <a:pt x="750" y="2356"/>
                    <a:pt x="1035" y="2356"/>
                  </a:cubicBezTo>
                  <a:cubicBezTo>
                    <a:pt x="1606" y="2356"/>
                    <a:pt x="2070" y="1892"/>
                    <a:pt x="2070" y="1321"/>
                  </a:cubicBezTo>
                  <a:lnTo>
                    <a:pt x="2070" y="108"/>
                  </a:lnTo>
                  <a:cubicBezTo>
                    <a:pt x="1749" y="36"/>
                    <a:pt x="1392" y="1"/>
                    <a:pt x="1035"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27"/>
            <p:cNvSpPr/>
            <p:nvPr/>
          </p:nvSpPr>
          <p:spPr>
            <a:xfrm>
              <a:off x="6410894" y="3962399"/>
              <a:ext cx="63912" cy="40328"/>
            </a:xfrm>
            <a:custGeom>
              <a:rect b="b" l="l" r="r" t="t"/>
              <a:pathLst>
                <a:path extrusionOk="0" h="1250" w="1981">
                  <a:moveTo>
                    <a:pt x="1820" y="0"/>
                  </a:moveTo>
                  <a:cubicBezTo>
                    <a:pt x="1570" y="143"/>
                    <a:pt x="1285" y="232"/>
                    <a:pt x="981" y="232"/>
                  </a:cubicBezTo>
                  <a:cubicBezTo>
                    <a:pt x="696" y="232"/>
                    <a:pt x="411" y="161"/>
                    <a:pt x="161" y="18"/>
                  </a:cubicBezTo>
                  <a:lnTo>
                    <a:pt x="0" y="589"/>
                  </a:lnTo>
                  <a:cubicBezTo>
                    <a:pt x="393" y="910"/>
                    <a:pt x="785" y="1142"/>
                    <a:pt x="981" y="1249"/>
                  </a:cubicBezTo>
                  <a:cubicBezTo>
                    <a:pt x="1196" y="1142"/>
                    <a:pt x="1570" y="910"/>
                    <a:pt x="1981" y="589"/>
                  </a:cubicBezTo>
                  <a:lnTo>
                    <a:pt x="1820"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 name="Google Shape;153;p27"/>
          <p:cNvGrpSpPr/>
          <p:nvPr/>
        </p:nvGrpSpPr>
        <p:grpSpPr>
          <a:xfrm>
            <a:off x="3584809" y="3248974"/>
            <a:ext cx="258487" cy="344273"/>
            <a:chOff x="1075193" y="2684449"/>
            <a:chExt cx="258487" cy="344273"/>
          </a:xfrm>
        </p:grpSpPr>
        <p:sp>
          <p:nvSpPr>
            <p:cNvPr id="154" name="Google Shape;154;p27"/>
            <p:cNvSpPr/>
            <p:nvPr/>
          </p:nvSpPr>
          <p:spPr>
            <a:xfrm>
              <a:off x="1096486" y="2684449"/>
              <a:ext cx="215320" cy="164668"/>
            </a:xfrm>
            <a:custGeom>
              <a:rect b="b" l="l" r="r" t="t"/>
              <a:pathLst>
                <a:path extrusionOk="0" h="5104" w="6674">
                  <a:moveTo>
                    <a:pt x="3337" y="1"/>
                  </a:moveTo>
                  <a:cubicBezTo>
                    <a:pt x="1500" y="1"/>
                    <a:pt x="1" y="1500"/>
                    <a:pt x="1" y="3337"/>
                  </a:cubicBezTo>
                  <a:lnTo>
                    <a:pt x="1" y="5104"/>
                  </a:lnTo>
                  <a:lnTo>
                    <a:pt x="1339" y="5104"/>
                  </a:lnTo>
                  <a:lnTo>
                    <a:pt x="1339" y="3355"/>
                  </a:lnTo>
                  <a:cubicBezTo>
                    <a:pt x="1339" y="2285"/>
                    <a:pt x="2195" y="1375"/>
                    <a:pt x="3266" y="1339"/>
                  </a:cubicBezTo>
                  <a:cubicBezTo>
                    <a:pt x="3289" y="1338"/>
                    <a:pt x="3311" y="1338"/>
                    <a:pt x="3334" y="1338"/>
                  </a:cubicBezTo>
                  <a:cubicBezTo>
                    <a:pt x="3895" y="1338"/>
                    <a:pt x="4387" y="1550"/>
                    <a:pt x="4765" y="1928"/>
                  </a:cubicBezTo>
                  <a:cubicBezTo>
                    <a:pt x="5122" y="2285"/>
                    <a:pt x="5354" y="2784"/>
                    <a:pt x="5354" y="3337"/>
                  </a:cubicBezTo>
                  <a:lnTo>
                    <a:pt x="5354" y="5104"/>
                  </a:lnTo>
                  <a:lnTo>
                    <a:pt x="6674" y="5104"/>
                  </a:lnTo>
                  <a:lnTo>
                    <a:pt x="6674" y="3337"/>
                  </a:lnTo>
                  <a:cubicBezTo>
                    <a:pt x="6674" y="2410"/>
                    <a:pt x="6299" y="1589"/>
                    <a:pt x="5710" y="982"/>
                  </a:cubicBezTo>
                  <a:cubicBezTo>
                    <a:pt x="5104" y="375"/>
                    <a:pt x="4265" y="1"/>
                    <a:pt x="3337"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7"/>
            <p:cNvSpPr/>
            <p:nvPr/>
          </p:nvSpPr>
          <p:spPr>
            <a:xfrm>
              <a:off x="1194371" y="2920482"/>
              <a:ext cx="20164" cy="20164"/>
            </a:xfrm>
            <a:custGeom>
              <a:rect b="b" l="l" r="r" t="t"/>
              <a:pathLst>
                <a:path extrusionOk="0" h="625" w="625">
                  <a:moveTo>
                    <a:pt x="303" y="0"/>
                  </a:moveTo>
                  <a:cubicBezTo>
                    <a:pt x="143" y="0"/>
                    <a:pt x="0" y="143"/>
                    <a:pt x="0" y="321"/>
                  </a:cubicBezTo>
                  <a:cubicBezTo>
                    <a:pt x="0" y="482"/>
                    <a:pt x="143" y="625"/>
                    <a:pt x="303" y="625"/>
                  </a:cubicBezTo>
                  <a:cubicBezTo>
                    <a:pt x="482" y="625"/>
                    <a:pt x="625" y="482"/>
                    <a:pt x="625" y="321"/>
                  </a:cubicBezTo>
                  <a:cubicBezTo>
                    <a:pt x="625" y="143"/>
                    <a:pt x="482" y="0"/>
                    <a:pt x="30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7"/>
            <p:cNvSpPr/>
            <p:nvPr/>
          </p:nvSpPr>
          <p:spPr>
            <a:xfrm>
              <a:off x="1075193" y="2869249"/>
              <a:ext cx="258487" cy="159474"/>
            </a:xfrm>
            <a:custGeom>
              <a:rect b="b" l="l" r="r" t="t"/>
              <a:pathLst>
                <a:path extrusionOk="0" h="4943" w="8012">
                  <a:moveTo>
                    <a:pt x="3988" y="962"/>
                  </a:moveTo>
                  <a:cubicBezTo>
                    <a:pt x="4513" y="962"/>
                    <a:pt x="4943" y="1394"/>
                    <a:pt x="4943" y="1909"/>
                  </a:cubicBezTo>
                  <a:cubicBezTo>
                    <a:pt x="4943" y="2320"/>
                    <a:pt x="4675" y="2659"/>
                    <a:pt x="4319" y="2802"/>
                  </a:cubicBezTo>
                  <a:lnTo>
                    <a:pt x="4319" y="3372"/>
                  </a:lnTo>
                  <a:lnTo>
                    <a:pt x="3694" y="3372"/>
                  </a:lnTo>
                  <a:lnTo>
                    <a:pt x="3694" y="2802"/>
                  </a:lnTo>
                  <a:cubicBezTo>
                    <a:pt x="3302" y="2659"/>
                    <a:pt x="3034" y="2284"/>
                    <a:pt x="3070" y="1856"/>
                  </a:cubicBezTo>
                  <a:cubicBezTo>
                    <a:pt x="3087" y="1392"/>
                    <a:pt x="3462" y="999"/>
                    <a:pt x="3926" y="964"/>
                  </a:cubicBezTo>
                  <a:cubicBezTo>
                    <a:pt x="3947" y="962"/>
                    <a:pt x="3967" y="962"/>
                    <a:pt x="3988" y="962"/>
                  </a:cubicBezTo>
                  <a:close/>
                  <a:moveTo>
                    <a:pt x="1" y="0"/>
                  </a:moveTo>
                  <a:lnTo>
                    <a:pt x="1" y="4943"/>
                  </a:lnTo>
                  <a:lnTo>
                    <a:pt x="8012" y="4943"/>
                  </a:lnTo>
                  <a:lnTo>
                    <a:pt x="8012" y="0"/>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cxnSp>
        <p:nvCxnSpPr>
          <p:cNvPr id="161" name="Google Shape;161;p28"/>
          <p:cNvCxnSpPr>
            <a:stCxn id="162" idx="6"/>
            <a:endCxn id="163" idx="2"/>
          </p:cNvCxnSpPr>
          <p:nvPr/>
        </p:nvCxnSpPr>
        <p:spPr>
          <a:xfrm>
            <a:off x="923219" y="3114778"/>
            <a:ext cx="7297500" cy="0"/>
          </a:xfrm>
          <a:prstGeom prst="straightConnector1">
            <a:avLst/>
          </a:prstGeom>
          <a:noFill/>
          <a:ln cap="flat" cmpd="sng" w="19050">
            <a:solidFill>
              <a:schemeClr val="dk1"/>
            </a:solidFill>
            <a:prstDash val="solid"/>
            <a:round/>
            <a:headEnd len="med" w="med" type="none"/>
            <a:tailEnd len="med" w="med" type="none"/>
          </a:ln>
        </p:spPr>
      </p:cxnSp>
      <p:sp>
        <p:nvSpPr>
          <p:cNvPr id="164" name="Google Shape;164;p28"/>
          <p:cNvSpPr txBox="1"/>
          <p:nvPr/>
        </p:nvSpPr>
        <p:spPr>
          <a:xfrm>
            <a:off x="882950" y="3114772"/>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Jan</a:t>
            </a:r>
            <a:endParaRPr sz="1000">
              <a:solidFill>
                <a:schemeClr val="dk1"/>
              </a:solidFill>
              <a:latin typeface="Montserrat Medium"/>
              <a:ea typeface="Montserrat Medium"/>
              <a:cs typeface="Montserrat Medium"/>
              <a:sym typeface="Montserrat Medium"/>
            </a:endParaRPr>
          </a:p>
        </p:txBody>
      </p:sp>
      <p:sp>
        <p:nvSpPr>
          <p:cNvPr id="165" name="Google Shape;165;p28"/>
          <p:cNvSpPr txBox="1"/>
          <p:nvPr/>
        </p:nvSpPr>
        <p:spPr>
          <a:xfrm>
            <a:off x="1497800" y="2933285"/>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Feb</a:t>
            </a:r>
            <a:endParaRPr sz="1000">
              <a:solidFill>
                <a:schemeClr val="dk1"/>
              </a:solidFill>
              <a:latin typeface="Montserrat Medium"/>
              <a:ea typeface="Montserrat Medium"/>
              <a:cs typeface="Montserrat Medium"/>
              <a:sym typeface="Montserrat Medium"/>
            </a:endParaRPr>
          </a:p>
        </p:txBody>
      </p:sp>
      <p:sp>
        <p:nvSpPr>
          <p:cNvPr id="166" name="Google Shape;166;p28"/>
          <p:cNvSpPr txBox="1"/>
          <p:nvPr/>
        </p:nvSpPr>
        <p:spPr>
          <a:xfrm>
            <a:off x="2112650" y="3114772"/>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Mar</a:t>
            </a:r>
            <a:endParaRPr sz="1000">
              <a:solidFill>
                <a:schemeClr val="dk1"/>
              </a:solidFill>
              <a:latin typeface="Montserrat Medium"/>
              <a:ea typeface="Montserrat Medium"/>
              <a:cs typeface="Montserrat Medium"/>
              <a:sym typeface="Montserrat Medium"/>
            </a:endParaRPr>
          </a:p>
        </p:txBody>
      </p:sp>
      <p:sp>
        <p:nvSpPr>
          <p:cNvPr id="167" name="Google Shape;167;p28"/>
          <p:cNvSpPr txBox="1"/>
          <p:nvPr/>
        </p:nvSpPr>
        <p:spPr>
          <a:xfrm>
            <a:off x="2727500" y="2933285"/>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Apr</a:t>
            </a:r>
            <a:endParaRPr sz="1000">
              <a:solidFill>
                <a:schemeClr val="dk1"/>
              </a:solidFill>
              <a:latin typeface="Montserrat Medium"/>
              <a:ea typeface="Montserrat Medium"/>
              <a:cs typeface="Montserrat Medium"/>
              <a:sym typeface="Montserrat Medium"/>
            </a:endParaRPr>
          </a:p>
        </p:txBody>
      </p:sp>
      <p:sp>
        <p:nvSpPr>
          <p:cNvPr id="168" name="Google Shape;168;p28"/>
          <p:cNvSpPr txBox="1"/>
          <p:nvPr/>
        </p:nvSpPr>
        <p:spPr>
          <a:xfrm>
            <a:off x="3342350" y="3114772"/>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May</a:t>
            </a:r>
            <a:endParaRPr sz="1000">
              <a:solidFill>
                <a:schemeClr val="dk1"/>
              </a:solidFill>
              <a:latin typeface="Montserrat Medium"/>
              <a:ea typeface="Montserrat Medium"/>
              <a:cs typeface="Montserrat Medium"/>
              <a:sym typeface="Montserrat Medium"/>
            </a:endParaRPr>
          </a:p>
        </p:txBody>
      </p:sp>
      <p:sp>
        <p:nvSpPr>
          <p:cNvPr id="169" name="Google Shape;169;p28"/>
          <p:cNvSpPr txBox="1"/>
          <p:nvPr/>
        </p:nvSpPr>
        <p:spPr>
          <a:xfrm>
            <a:off x="3957200" y="2933285"/>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Jun</a:t>
            </a:r>
            <a:endParaRPr sz="1000">
              <a:solidFill>
                <a:schemeClr val="dk1"/>
              </a:solidFill>
              <a:latin typeface="Montserrat Medium"/>
              <a:ea typeface="Montserrat Medium"/>
              <a:cs typeface="Montserrat Medium"/>
              <a:sym typeface="Montserrat Medium"/>
            </a:endParaRPr>
          </a:p>
        </p:txBody>
      </p:sp>
      <p:sp>
        <p:nvSpPr>
          <p:cNvPr id="170" name="Google Shape;170;p28"/>
          <p:cNvSpPr txBox="1"/>
          <p:nvPr/>
        </p:nvSpPr>
        <p:spPr>
          <a:xfrm>
            <a:off x="4572050" y="3114772"/>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Jul</a:t>
            </a:r>
            <a:endParaRPr sz="1000">
              <a:solidFill>
                <a:schemeClr val="dk1"/>
              </a:solidFill>
              <a:latin typeface="Montserrat Medium"/>
              <a:ea typeface="Montserrat Medium"/>
              <a:cs typeface="Montserrat Medium"/>
              <a:sym typeface="Montserrat Medium"/>
            </a:endParaRPr>
          </a:p>
        </p:txBody>
      </p:sp>
      <p:sp>
        <p:nvSpPr>
          <p:cNvPr id="171" name="Google Shape;171;p28"/>
          <p:cNvSpPr txBox="1"/>
          <p:nvPr/>
        </p:nvSpPr>
        <p:spPr>
          <a:xfrm>
            <a:off x="5186900" y="2933285"/>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Aug</a:t>
            </a:r>
            <a:endParaRPr sz="1000">
              <a:solidFill>
                <a:schemeClr val="dk1"/>
              </a:solidFill>
              <a:latin typeface="Montserrat Medium"/>
              <a:ea typeface="Montserrat Medium"/>
              <a:cs typeface="Montserrat Medium"/>
              <a:sym typeface="Montserrat Medium"/>
            </a:endParaRPr>
          </a:p>
        </p:txBody>
      </p:sp>
      <p:sp>
        <p:nvSpPr>
          <p:cNvPr id="172" name="Google Shape;172;p28"/>
          <p:cNvSpPr txBox="1"/>
          <p:nvPr/>
        </p:nvSpPr>
        <p:spPr>
          <a:xfrm>
            <a:off x="5801750" y="3114772"/>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Sep</a:t>
            </a:r>
            <a:endParaRPr sz="1000">
              <a:solidFill>
                <a:schemeClr val="dk1"/>
              </a:solidFill>
              <a:latin typeface="Montserrat Medium"/>
              <a:ea typeface="Montserrat Medium"/>
              <a:cs typeface="Montserrat Medium"/>
              <a:sym typeface="Montserrat Medium"/>
            </a:endParaRPr>
          </a:p>
        </p:txBody>
      </p:sp>
      <p:sp>
        <p:nvSpPr>
          <p:cNvPr id="173" name="Google Shape;173;p28"/>
          <p:cNvSpPr txBox="1"/>
          <p:nvPr/>
        </p:nvSpPr>
        <p:spPr>
          <a:xfrm>
            <a:off x="6416600" y="2933285"/>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Oct</a:t>
            </a:r>
            <a:endParaRPr sz="1000">
              <a:solidFill>
                <a:schemeClr val="dk1"/>
              </a:solidFill>
              <a:latin typeface="Montserrat Medium"/>
              <a:ea typeface="Montserrat Medium"/>
              <a:cs typeface="Montserrat Medium"/>
              <a:sym typeface="Montserrat Medium"/>
            </a:endParaRPr>
          </a:p>
        </p:txBody>
      </p:sp>
      <p:sp>
        <p:nvSpPr>
          <p:cNvPr id="174" name="Google Shape;174;p28"/>
          <p:cNvSpPr txBox="1"/>
          <p:nvPr/>
        </p:nvSpPr>
        <p:spPr>
          <a:xfrm>
            <a:off x="7031450" y="3114772"/>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Nov</a:t>
            </a:r>
            <a:endParaRPr sz="1000">
              <a:solidFill>
                <a:schemeClr val="dk1"/>
              </a:solidFill>
              <a:latin typeface="Montserrat Medium"/>
              <a:ea typeface="Montserrat Medium"/>
              <a:cs typeface="Montserrat Medium"/>
              <a:sym typeface="Montserrat Medium"/>
            </a:endParaRPr>
          </a:p>
        </p:txBody>
      </p:sp>
      <p:sp>
        <p:nvSpPr>
          <p:cNvPr id="175" name="Google Shape;175;p28"/>
          <p:cNvSpPr txBox="1"/>
          <p:nvPr/>
        </p:nvSpPr>
        <p:spPr>
          <a:xfrm>
            <a:off x="7646300" y="2933285"/>
            <a:ext cx="614700" cy="181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dk1"/>
                </a:solidFill>
                <a:latin typeface="Montserrat Medium"/>
                <a:ea typeface="Montserrat Medium"/>
                <a:cs typeface="Montserrat Medium"/>
                <a:sym typeface="Montserrat Medium"/>
              </a:rPr>
              <a:t>Dec</a:t>
            </a:r>
            <a:endParaRPr sz="1000">
              <a:solidFill>
                <a:schemeClr val="dk1"/>
              </a:solidFill>
              <a:latin typeface="Montserrat Medium"/>
              <a:ea typeface="Montserrat Medium"/>
              <a:cs typeface="Montserrat Medium"/>
              <a:sym typeface="Montserrat Medium"/>
            </a:endParaRPr>
          </a:p>
        </p:txBody>
      </p:sp>
      <p:cxnSp>
        <p:nvCxnSpPr>
          <p:cNvPr id="176" name="Google Shape;176;p28"/>
          <p:cNvCxnSpPr>
            <a:stCxn id="177" idx="1"/>
            <a:endCxn id="178" idx="0"/>
          </p:cNvCxnSpPr>
          <p:nvPr/>
        </p:nvCxnSpPr>
        <p:spPr>
          <a:xfrm>
            <a:off x="1273700" y="2219919"/>
            <a:ext cx="0" cy="854700"/>
          </a:xfrm>
          <a:prstGeom prst="straightConnector1">
            <a:avLst/>
          </a:prstGeom>
          <a:noFill/>
          <a:ln cap="flat" cmpd="sng" w="19050">
            <a:solidFill>
              <a:schemeClr val="accent4"/>
            </a:solidFill>
            <a:prstDash val="solid"/>
            <a:round/>
            <a:headEnd len="med" w="med" type="none"/>
            <a:tailEnd len="med" w="med" type="none"/>
          </a:ln>
        </p:spPr>
      </p:cxnSp>
      <p:sp>
        <p:nvSpPr>
          <p:cNvPr id="177" name="Google Shape;177;p28"/>
          <p:cNvSpPr/>
          <p:nvPr/>
        </p:nvSpPr>
        <p:spPr>
          <a:xfrm rot="5400000">
            <a:off x="1702100" y="1192119"/>
            <a:ext cx="1198800" cy="2055600"/>
          </a:xfrm>
          <a:prstGeom prst="round2SameRect">
            <a:avLst>
              <a:gd fmla="val 13320" name="adj1"/>
              <a:gd fmla="val 0" name="adj2"/>
            </a:avLst>
          </a:prstGeom>
          <a:solidFill>
            <a:srgbClr val="F3F3F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28"/>
          <p:cNvSpPr txBox="1"/>
          <p:nvPr/>
        </p:nvSpPr>
        <p:spPr>
          <a:xfrm>
            <a:off x="1382300" y="1840194"/>
            <a:ext cx="1838400" cy="30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dk1"/>
                </a:solidFill>
              </a:rPr>
              <a:t>Jan · </a:t>
            </a:r>
            <a:endParaRPr sz="1600">
              <a:solidFill>
                <a:schemeClr val="dk1"/>
              </a:solidFill>
            </a:endParaRPr>
          </a:p>
          <a:p>
            <a:pPr indent="0" lvl="0" marL="0" rtl="0" algn="l">
              <a:spcBef>
                <a:spcPts val="0"/>
              </a:spcBef>
              <a:spcAft>
                <a:spcPts val="0"/>
              </a:spcAft>
              <a:buNone/>
            </a:pPr>
            <a:r>
              <a:rPr b="1" lang="en" sz="1100">
                <a:solidFill>
                  <a:schemeClr val="dk2"/>
                </a:solidFill>
              </a:rPr>
              <a:t>Gap Analysis</a:t>
            </a:r>
            <a:endParaRPr b="1" sz="1100">
              <a:solidFill>
                <a:schemeClr val="dk2"/>
              </a:solidFill>
            </a:endParaRPr>
          </a:p>
        </p:txBody>
      </p:sp>
      <p:sp>
        <p:nvSpPr>
          <p:cNvPr id="180" name="Google Shape;180;p28"/>
          <p:cNvSpPr txBox="1"/>
          <p:nvPr/>
        </p:nvSpPr>
        <p:spPr>
          <a:xfrm>
            <a:off x="1382300" y="2067439"/>
            <a:ext cx="18384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Identify vulnerabilities, risks, and develop a prioritized roadmap</a:t>
            </a:r>
            <a:endParaRPr sz="1100">
              <a:solidFill>
                <a:schemeClr val="dk1"/>
              </a:solidFill>
            </a:endParaRPr>
          </a:p>
        </p:txBody>
      </p:sp>
      <p:cxnSp>
        <p:nvCxnSpPr>
          <p:cNvPr id="181" name="Google Shape;181;p28"/>
          <p:cNvCxnSpPr>
            <a:stCxn id="182" idx="1"/>
            <a:endCxn id="183" idx="0"/>
          </p:cNvCxnSpPr>
          <p:nvPr/>
        </p:nvCxnSpPr>
        <p:spPr>
          <a:xfrm>
            <a:off x="3785750" y="2219919"/>
            <a:ext cx="180900" cy="854700"/>
          </a:xfrm>
          <a:prstGeom prst="straightConnector1">
            <a:avLst/>
          </a:prstGeom>
          <a:noFill/>
          <a:ln cap="flat" cmpd="sng" w="19050">
            <a:solidFill>
              <a:schemeClr val="accent4"/>
            </a:solidFill>
            <a:prstDash val="solid"/>
            <a:round/>
            <a:headEnd len="med" w="med" type="none"/>
            <a:tailEnd len="med" w="med" type="none"/>
          </a:ln>
        </p:spPr>
      </p:cxnSp>
      <p:sp>
        <p:nvSpPr>
          <p:cNvPr id="182" name="Google Shape;182;p28"/>
          <p:cNvSpPr/>
          <p:nvPr/>
        </p:nvSpPr>
        <p:spPr>
          <a:xfrm rot="5400000">
            <a:off x="4214150" y="1192119"/>
            <a:ext cx="1198800" cy="2055600"/>
          </a:xfrm>
          <a:prstGeom prst="round2SameRect">
            <a:avLst>
              <a:gd fmla="val 13320" name="adj1"/>
              <a:gd fmla="val 0" name="adj2"/>
            </a:avLst>
          </a:prstGeom>
          <a:solidFill>
            <a:srgbClr val="F3F3F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8"/>
          <p:cNvSpPr txBox="1"/>
          <p:nvPr/>
        </p:nvSpPr>
        <p:spPr>
          <a:xfrm>
            <a:off x="3894350" y="1840194"/>
            <a:ext cx="1838400" cy="30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dk1"/>
                </a:solidFill>
              </a:rPr>
              <a:t>Jun · </a:t>
            </a:r>
            <a:endParaRPr sz="1600">
              <a:solidFill>
                <a:schemeClr val="dk1"/>
              </a:solidFill>
            </a:endParaRPr>
          </a:p>
          <a:p>
            <a:pPr indent="0" lvl="0" marL="0" rtl="0" algn="l">
              <a:spcBef>
                <a:spcPts val="0"/>
              </a:spcBef>
              <a:spcAft>
                <a:spcPts val="0"/>
              </a:spcAft>
              <a:buNone/>
            </a:pPr>
            <a:r>
              <a:rPr b="1" lang="en" sz="1100">
                <a:solidFill>
                  <a:schemeClr val="accent1"/>
                </a:solidFill>
              </a:rPr>
              <a:t>SOC Expansion</a:t>
            </a:r>
            <a:endParaRPr b="1" sz="1100">
              <a:solidFill>
                <a:schemeClr val="accent1"/>
              </a:solidFill>
            </a:endParaRPr>
          </a:p>
        </p:txBody>
      </p:sp>
      <p:sp>
        <p:nvSpPr>
          <p:cNvPr id="185" name="Google Shape;185;p28"/>
          <p:cNvSpPr txBox="1"/>
          <p:nvPr/>
        </p:nvSpPr>
        <p:spPr>
          <a:xfrm>
            <a:off x="3894350" y="2067439"/>
            <a:ext cx="18384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Recruit, onboard, and integrate specialist, defining team role scope.</a:t>
            </a:r>
            <a:endParaRPr sz="1100">
              <a:solidFill>
                <a:schemeClr val="dk1"/>
              </a:solidFill>
            </a:endParaRPr>
          </a:p>
        </p:txBody>
      </p:sp>
      <p:cxnSp>
        <p:nvCxnSpPr>
          <p:cNvPr id="186" name="Google Shape;186;p28"/>
          <p:cNvCxnSpPr>
            <a:stCxn id="187" idx="4"/>
            <a:endCxn id="188" idx="1"/>
          </p:cNvCxnSpPr>
          <p:nvPr/>
        </p:nvCxnSpPr>
        <p:spPr>
          <a:xfrm>
            <a:off x="2770650" y="3154895"/>
            <a:ext cx="5100" cy="1013100"/>
          </a:xfrm>
          <a:prstGeom prst="straightConnector1">
            <a:avLst/>
          </a:prstGeom>
          <a:noFill/>
          <a:ln cap="flat" cmpd="sng" w="19050">
            <a:solidFill>
              <a:schemeClr val="accent4"/>
            </a:solidFill>
            <a:prstDash val="solid"/>
            <a:round/>
            <a:headEnd len="med" w="med" type="none"/>
            <a:tailEnd len="med" w="med" type="none"/>
          </a:ln>
        </p:spPr>
      </p:cxnSp>
      <p:sp>
        <p:nvSpPr>
          <p:cNvPr id="188" name="Google Shape;188;p28"/>
          <p:cNvSpPr/>
          <p:nvPr/>
        </p:nvSpPr>
        <p:spPr>
          <a:xfrm flipH="1" rot="-5400000">
            <a:off x="990150" y="3140072"/>
            <a:ext cx="1515300" cy="2055600"/>
          </a:xfrm>
          <a:prstGeom prst="round2SameRect">
            <a:avLst>
              <a:gd fmla="val 13320" name="adj1"/>
              <a:gd fmla="val 0" name="adj2"/>
            </a:avLst>
          </a:prstGeom>
          <a:solidFill>
            <a:srgbClr val="F3F3F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 name="Google Shape;189;p28"/>
          <p:cNvGrpSpPr/>
          <p:nvPr/>
        </p:nvGrpSpPr>
        <p:grpSpPr>
          <a:xfrm>
            <a:off x="828600" y="3625262"/>
            <a:ext cx="1838400" cy="1297139"/>
            <a:chOff x="828600" y="3625262"/>
            <a:chExt cx="1838400" cy="1297139"/>
          </a:xfrm>
        </p:grpSpPr>
        <p:sp>
          <p:nvSpPr>
            <p:cNvPr id="190" name="Google Shape;190;p28"/>
            <p:cNvSpPr txBox="1"/>
            <p:nvPr/>
          </p:nvSpPr>
          <p:spPr>
            <a:xfrm>
              <a:off x="828600" y="3625262"/>
              <a:ext cx="1838400" cy="30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dk1"/>
                  </a:solidFill>
                </a:rPr>
                <a:t>Apr · </a:t>
              </a:r>
              <a:endParaRPr sz="1600">
                <a:solidFill>
                  <a:schemeClr val="dk1"/>
                </a:solidFill>
              </a:endParaRPr>
            </a:p>
            <a:p>
              <a:pPr indent="0" lvl="0" marL="0" rtl="0" algn="l">
                <a:spcBef>
                  <a:spcPts val="0"/>
                </a:spcBef>
                <a:spcAft>
                  <a:spcPts val="0"/>
                </a:spcAft>
                <a:buNone/>
              </a:pPr>
              <a:r>
                <a:rPr b="1" lang="en" sz="1100">
                  <a:solidFill>
                    <a:srgbClr val="FF0083"/>
                  </a:solidFill>
                </a:rPr>
                <a:t>Enhancements</a:t>
              </a:r>
              <a:endParaRPr b="1" sz="1100">
                <a:solidFill>
                  <a:srgbClr val="FF0083"/>
                </a:solidFill>
              </a:endParaRPr>
            </a:p>
          </p:txBody>
        </p:sp>
        <p:sp>
          <p:nvSpPr>
            <p:cNvPr id="191" name="Google Shape;191;p28"/>
            <p:cNvSpPr txBox="1"/>
            <p:nvPr/>
          </p:nvSpPr>
          <p:spPr>
            <a:xfrm>
              <a:off x="828600" y="3813600"/>
              <a:ext cx="1838400" cy="110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cybersecurity awareness training, certify key personnel.</a:t>
              </a:r>
              <a:endParaRPr sz="900">
                <a:solidFill>
                  <a:schemeClr val="dk1"/>
                </a:solidFill>
              </a:endParaRPr>
            </a:p>
          </p:txBody>
        </p:sp>
      </p:grpSp>
      <p:cxnSp>
        <p:nvCxnSpPr>
          <p:cNvPr id="192" name="Google Shape;192;p28"/>
          <p:cNvCxnSpPr>
            <a:stCxn id="193" idx="4"/>
            <a:endCxn id="194" idx="1"/>
          </p:cNvCxnSpPr>
          <p:nvPr/>
        </p:nvCxnSpPr>
        <p:spPr>
          <a:xfrm>
            <a:off x="6416525" y="3154897"/>
            <a:ext cx="0" cy="1011300"/>
          </a:xfrm>
          <a:prstGeom prst="straightConnector1">
            <a:avLst/>
          </a:prstGeom>
          <a:noFill/>
          <a:ln cap="flat" cmpd="sng" w="19050">
            <a:solidFill>
              <a:schemeClr val="accent4"/>
            </a:solidFill>
            <a:prstDash val="solid"/>
            <a:round/>
            <a:headEnd len="med" w="med" type="none"/>
            <a:tailEnd len="med" w="med" type="none"/>
          </a:ln>
        </p:spPr>
      </p:cxnSp>
      <p:grpSp>
        <p:nvGrpSpPr>
          <p:cNvPr id="195" name="Google Shape;195;p28"/>
          <p:cNvGrpSpPr/>
          <p:nvPr/>
        </p:nvGrpSpPr>
        <p:grpSpPr>
          <a:xfrm>
            <a:off x="4361000" y="3410197"/>
            <a:ext cx="2055600" cy="1512166"/>
            <a:chOff x="3112025" y="3410237"/>
            <a:chExt cx="2055600" cy="1198800"/>
          </a:xfrm>
        </p:grpSpPr>
        <p:sp>
          <p:nvSpPr>
            <p:cNvPr id="194" name="Google Shape;194;p28"/>
            <p:cNvSpPr/>
            <p:nvPr/>
          </p:nvSpPr>
          <p:spPr>
            <a:xfrm flipH="1" rot="-5400000">
              <a:off x="3540425" y="2981837"/>
              <a:ext cx="1198800" cy="2055600"/>
            </a:xfrm>
            <a:prstGeom prst="round2SameRect">
              <a:avLst>
                <a:gd fmla="val 13320" name="adj1"/>
                <a:gd fmla="val 0" name="adj2"/>
              </a:avLst>
            </a:prstGeom>
            <a:solidFill>
              <a:srgbClr val="F3F3F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28"/>
            <p:cNvSpPr txBox="1"/>
            <p:nvPr/>
          </p:nvSpPr>
          <p:spPr>
            <a:xfrm>
              <a:off x="3280775" y="3553712"/>
              <a:ext cx="1718100" cy="30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600">
                  <a:solidFill>
                    <a:schemeClr val="dk1"/>
                  </a:solidFill>
                </a:rPr>
                <a:t>Sep · </a:t>
              </a:r>
              <a:endParaRPr sz="1600">
                <a:solidFill>
                  <a:schemeClr val="dk1"/>
                </a:solidFill>
              </a:endParaRPr>
            </a:p>
            <a:p>
              <a:pPr indent="0" lvl="0" marL="0" rtl="0" algn="l">
                <a:spcBef>
                  <a:spcPts val="0"/>
                </a:spcBef>
                <a:spcAft>
                  <a:spcPts val="0"/>
                </a:spcAft>
                <a:buNone/>
              </a:pPr>
              <a:r>
                <a:rPr b="1" lang="en" sz="1100">
                  <a:solidFill>
                    <a:schemeClr val="accent2"/>
                  </a:solidFill>
                </a:rPr>
                <a:t>Cyber+</a:t>
              </a:r>
              <a:endParaRPr b="1" sz="1100">
                <a:solidFill>
                  <a:schemeClr val="accent2"/>
                </a:solidFill>
              </a:endParaRPr>
            </a:p>
          </p:txBody>
        </p:sp>
        <p:sp>
          <p:nvSpPr>
            <p:cNvPr id="197" name="Google Shape;197;p28"/>
            <p:cNvSpPr txBox="1"/>
            <p:nvPr/>
          </p:nvSpPr>
          <p:spPr>
            <a:xfrm>
              <a:off x="3280775" y="3780958"/>
              <a:ext cx="18384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Configure advanced security solutions, conduct regular security and penetration testing.</a:t>
              </a:r>
              <a:endParaRPr sz="1100">
                <a:solidFill>
                  <a:schemeClr val="dk1"/>
                </a:solidFill>
              </a:endParaRPr>
            </a:p>
          </p:txBody>
        </p:sp>
      </p:grpSp>
      <p:grpSp>
        <p:nvGrpSpPr>
          <p:cNvPr id="198" name="Google Shape;198;p28"/>
          <p:cNvGrpSpPr/>
          <p:nvPr/>
        </p:nvGrpSpPr>
        <p:grpSpPr>
          <a:xfrm>
            <a:off x="6195800" y="1620524"/>
            <a:ext cx="2055725" cy="1534298"/>
            <a:chOff x="5801750" y="3399024"/>
            <a:chExt cx="2055725" cy="1534298"/>
          </a:xfrm>
        </p:grpSpPr>
        <p:cxnSp>
          <p:nvCxnSpPr>
            <p:cNvPr id="199" name="Google Shape;199;p28"/>
            <p:cNvCxnSpPr>
              <a:stCxn id="200" idx="4"/>
              <a:endCxn id="201" idx="1"/>
            </p:cNvCxnSpPr>
            <p:nvPr/>
          </p:nvCxnSpPr>
          <p:spPr>
            <a:xfrm rot="10800000">
              <a:off x="7857475" y="3998522"/>
              <a:ext cx="0" cy="934800"/>
            </a:xfrm>
            <a:prstGeom prst="straightConnector1">
              <a:avLst/>
            </a:prstGeom>
            <a:noFill/>
            <a:ln cap="flat" cmpd="sng" w="19050">
              <a:solidFill>
                <a:schemeClr val="accent4"/>
              </a:solidFill>
              <a:prstDash val="solid"/>
              <a:round/>
              <a:headEnd len="med" w="med" type="none"/>
              <a:tailEnd len="med" w="med" type="none"/>
            </a:ln>
          </p:spPr>
        </p:cxnSp>
        <p:sp>
          <p:nvSpPr>
            <p:cNvPr id="201" name="Google Shape;201;p28"/>
            <p:cNvSpPr/>
            <p:nvPr/>
          </p:nvSpPr>
          <p:spPr>
            <a:xfrm flipH="1" rot="-5400000">
              <a:off x="6230150" y="2970624"/>
              <a:ext cx="1198800" cy="2055600"/>
            </a:xfrm>
            <a:prstGeom prst="round2SameRect">
              <a:avLst>
                <a:gd fmla="val 13320" name="adj1"/>
                <a:gd fmla="val 0" name="adj2"/>
              </a:avLst>
            </a:prstGeom>
            <a:solidFill>
              <a:srgbClr val="F3F3F3"/>
            </a:solid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28"/>
            <p:cNvSpPr txBox="1"/>
            <p:nvPr/>
          </p:nvSpPr>
          <p:spPr>
            <a:xfrm>
              <a:off x="5903750" y="3618849"/>
              <a:ext cx="1838400" cy="3033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sz="1300">
                  <a:solidFill>
                    <a:schemeClr val="dk1"/>
                  </a:solidFill>
                </a:rPr>
                <a:t>Dec. · </a:t>
              </a:r>
              <a:endParaRPr sz="1300">
                <a:solidFill>
                  <a:schemeClr val="dk1"/>
                </a:solidFill>
              </a:endParaRPr>
            </a:p>
            <a:p>
              <a:pPr indent="0" lvl="0" marL="0" rtl="0" algn="l">
                <a:spcBef>
                  <a:spcPts val="0"/>
                </a:spcBef>
                <a:spcAft>
                  <a:spcPts val="0"/>
                </a:spcAft>
                <a:buNone/>
              </a:pPr>
              <a:r>
                <a:rPr b="1" lang="en" sz="1100">
                  <a:solidFill>
                    <a:srgbClr val="F46524"/>
                  </a:solidFill>
                </a:rPr>
                <a:t>Maintenance </a:t>
              </a:r>
              <a:endParaRPr b="1" sz="1100">
                <a:solidFill>
                  <a:srgbClr val="F46524"/>
                </a:solidFill>
              </a:endParaRPr>
            </a:p>
          </p:txBody>
        </p:sp>
        <p:sp>
          <p:nvSpPr>
            <p:cNvPr id="203" name="Google Shape;203;p28"/>
            <p:cNvSpPr txBox="1"/>
            <p:nvPr/>
          </p:nvSpPr>
          <p:spPr>
            <a:xfrm>
              <a:off x="5910350" y="3769744"/>
              <a:ext cx="1838400" cy="68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Ongoing improvement;</a:t>
              </a:r>
              <a:endParaRPr sz="1100">
                <a:solidFill>
                  <a:schemeClr val="dk1"/>
                </a:solidFill>
              </a:endParaRPr>
            </a:p>
            <a:p>
              <a:pPr indent="0" lvl="0" marL="0" rtl="0" algn="l">
                <a:spcBef>
                  <a:spcPts val="0"/>
                </a:spcBef>
                <a:spcAft>
                  <a:spcPts val="0"/>
                </a:spcAft>
                <a:buNone/>
              </a:pPr>
              <a:r>
                <a:rPr lang="en" sz="1100">
                  <a:solidFill>
                    <a:schemeClr val="dk1"/>
                  </a:solidFill>
                </a:rPr>
                <a:t>Continuous monitoring.</a:t>
              </a:r>
              <a:endParaRPr sz="1100">
                <a:solidFill>
                  <a:schemeClr val="dk1"/>
                </a:solidFill>
              </a:endParaRPr>
            </a:p>
          </p:txBody>
        </p:sp>
      </p:grpSp>
      <p:sp>
        <p:nvSpPr>
          <p:cNvPr id="204" name="Google Shape;204;p28"/>
          <p:cNvSpPr txBox="1"/>
          <p:nvPr>
            <p:ph type="title"/>
          </p:nvPr>
        </p:nvSpPr>
        <p:spPr>
          <a:xfrm>
            <a:off x="713250" y="457200"/>
            <a:ext cx="7717500" cy="54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latin typeface="Arial"/>
                <a:ea typeface="Arial"/>
                <a:cs typeface="Arial"/>
                <a:sym typeface="Arial"/>
              </a:rPr>
              <a:t>Milestones &amp; Timeline</a:t>
            </a:r>
            <a:endParaRPr>
              <a:latin typeface="Arial"/>
              <a:ea typeface="Arial"/>
              <a:cs typeface="Arial"/>
              <a:sym typeface="Arial"/>
            </a:endParaRPr>
          </a:p>
        </p:txBody>
      </p:sp>
      <p:grpSp>
        <p:nvGrpSpPr>
          <p:cNvPr id="205" name="Google Shape;205;p28"/>
          <p:cNvGrpSpPr/>
          <p:nvPr/>
        </p:nvGrpSpPr>
        <p:grpSpPr>
          <a:xfrm>
            <a:off x="843119" y="3074728"/>
            <a:ext cx="7457763" cy="80163"/>
            <a:chOff x="843119" y="2887000"/>
            <a:chExt cx="7457763" cy="80163"/>
          </a:xfrm>
        </p:grpSpPr>
        <p:sp>
          <p:nvSpPr>
            <p:cNvPr id="162" name="Google Shape;162;p28"/>
            <p:cNvSpPr/>
            <p:nvPr/>
          </p:nvSpPr>
          <p:spPr>
            <a:xfrm>
              <a:off x="843119" y="2887000"/>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8"/>
            <p:cNvSpPr/>
            <p:nvPr/>
          </p:nvSpPr>
          <p:spPr>
            <a:xfrm>
              <a:off x="1457924"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8"/>
            <p:cNvSpPr/>
            <p:nvPr/>
          </p:nvSpPr>
          <p:spPr>
            <a:xfrm>
              <a:off x="2072729"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8"/>
            <p:cNvSpPr/>
            <p:nvPr/>
          </p:nvSpPr>
          <p:spPr>
            <a:xfrm>
              <a:off x="2687534"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a:off x="3302340"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p:nvPr/>
          </p:nvSpPr>
          <p:spPr>
            <a:xfrm>
              <a:off x="3917145"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8"/>
            <p:cNvSpPr/>
            <p:nvPr/>
          </p:nvSpPr>
          <p:spPr>
            <a:xfrm>
              <a:off x="4531950"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8"/>
            <p:cNvSpPr/>
            <p:nvPr/>
          </p:nvSpPr>
          <p:spPr>
            <a:xfrm>
              <a:off x="5146755"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8"/>
            <p:cNvSpPr/>
            <p:nvPr/>
          </p:nvSpPr>
          <p:spPr>
            <a:xfrm>
              <a:off x="5761560"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8"/>
            <p:cNvSpPr/>
            <p:nvPr/>
          </p:nvSpPr>
          <p:spPr>
            <a:xfrm>
              <a:off x="6376366"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8"/>
            <p:cNvSpPr/>
            <p:nvPr/>
          </p:nvSpPr>
          <p:spPr>
            <a:xfrm>
              <a:off x="6991171"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a:off x="7605976"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8"/>
            <p:cNvSpPr/>
            <p:nvPr/>
          </p:nvSpPr>
          <p:spPr>
            <a:xfrm>
              <a:off x="8220781" y="2887063"/>
              <a:ext cx="80100" cy="801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8" name="Google Shape;178;p28"/>
          <p:cNvSpPr/>
          <p:nvPr/>
        </p:nvSpPr>
        <p:spPr>
          <a:xfrm>
            <a:off x="1233588" y="3074761"/>
            <a:ext cx="80100" cy="801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28"/>
          <p:cNvSpPr/>
          <p:nvPr/>
        </p:nvSpPr>
        <p:spPr>
          <a:xfrm>
            <a:off x="3926613" y="3074721"/>
            <a:ext cx="80100" cy="801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8"/>
          <p:cNvSpPr/>
          <p:nvPr/>
        </p:nvSpPr>
        <p:spPr>
          <a:xfrm>
            <a:off x="8211475" y="3074722"/>
            <a:ext cx="80100" cy="801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8"/>
          <p:cNvSpPr/>
          <p:nvPr/>
        </p:nvSpPr>
        <p:spPr>
          <a:xfrm>
            <a:off x="6376475" y="3074797"/>
            <a:ext cx="80100" cy="80100"/>
          </a:xfrm>
          <a:prstGeom prst="ellipse">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8"/>
          <p:cNvSpPr/>
          <p:nvPr/>
        </p:nvSpPr>
        <p:spPr>
          <a:xfrm>
            <a:off x="2730600" y="3074795"/>
            <a:ext cx="80100" cy="801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txBox="1"/>
          <p:nvPr/>
        </p:nvSpPr>
        <p:spPr>
          <a:xfrm>
            <a:off x="713200" y="1061225"/>
            <a:ext cx="7717500" cy="386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600">
                <a:solidFill>
                  <a:schemeClr val="dk1"/>
                </a:solidFill>
              </a:rPr>
              <a:t>Quarterly benchmarks</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9"/>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262530"/>
              </a:buClr>
              <a:buSzPts val="1400"/>
              <a:buFont typeface="Arial"/>
              <a:buChar char="●"/>
            </a:pPr>
            <a:r>
              <a:rPr lang="en" sz="1400">
                <a:solidFill>
                  <a:srgbClr val="262530"/>
                </a:solidFill>
                <a:highlight>
                  <a:srgbClr val="FFFFFF"/>
                </a:highlight>
                <a:latin typeface="Arial"/>
                <a:ea typeface="Arial"/>
                <a:cs typeface="Arial"/>
                <a:sym typeface="Arial"/>
              </a:rPr>
              <a:t>Resource Allocation:</a:t>
            </a:r>
            <a:endParaRPr/>
          </a:p>
        </p:txBody>
      </p:sp>
      <p:sp>
        <p:nvSpPr>
          <p:cNvPr id="223" name="Google Shape;223;p29"/>
          <p:cNvSpPr txBox="1"/>
          <p:nvPr>
            <p:ph idx="1" type="body"/>
          </p:nvPr>
        </p:nvSpPr>
        <p:spPr>
          <a:xfrm>
            <a:off x="2472048" y="1163500"/>
            <a:ext cx="5090100" cy="3002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Char char="●"/>
            </a:pPr>
            <a:r>
              <a:rPr lang="en">
                <a:solidFill>
                  <a:srgbClr val="262530"/>
                </a:solidFill>
                <a:highlight>
                  <a:srgbClr val="FFFFFF"/>
                </a:highlight>
                <a:latin typeface="Arial"/>
                <a:ea typeface="Arial"/>
                <a:cs typeface="Arial"/>
                <a:sym typeface="Arial"/>
              </a:rPr>
              <a:t>Current Technical Support team will be trained to demonstrate NIST recommended security measures in their work</a:t>
            </a:r>
            <a:endParaRPr>
              <a:solidFill>
                <a:srgbClr val="262530"/>
              </a:solidFill>
              <a:highlight>
                <a:srgbClr val="FFFFFF"/>
              </a:highlight>
              <a:latin typeface="Arial"/>
              <a:ea typeface="Arial"/>
              <a:cs typeface="Arial"/>
              <a:sym typeface="Arial"/>
            </a:endParaRPr>
          </a:p>
          <a:p>
            <a:pPr indent="-330200" lvl="0" marL="457200" rtl="0" algn="l">
              <a:spcBef>
                <a:spcPts val="0"/>
              </a:spcBef>
              <a:spcAft>
                <a:spcPts val="0"/>
              </a:spcAft>
              <a:buSzPts val="1600"/>
              <a:buChar char="●"/>
            </a:pPr>
            <a:r>
              <a:rPr lang="en">
                <a:solidFill>
                  <a:srgbClr val="262530"/>
                </a:solidFill>
                <a:highlight>
                  <a:schemeClr val="lt1"/>
                </a:highlight>
                <a:latin typeface="Arial"/>
                <a:ea typeface="Arial"/>
                <a:cs typeface="Arial"/>
                <a:sym typeface="Arial"/>
              </a:rPr>
              <a:t>S</a:t>
            </a:r>
            <a:r>
              <a:rPr lang="en">
                <a:solidFill>
                  <a:srgbClr val="262530"/>
                </a:solidFill>
                <a:highlight>
                  <a:schemeClr val="lt1"/>
                </a:highlight>
                <a:latin typeface="Arial"/>
                <a:ea typeface="Arial"/>
                <a:cs typeface="Arial"/>
                <a:sym typeface="Arial"/>
              </a:rPr>
              <a:t>unset </a:t>
            </a:r>
            <a:r>
              <a:rPr lang="en">
                <a:solidFill>
                  <a:srgbClr val="262530"/>
                </a:solidFill>
                <a:highlight>
                  <a:srgbClr val="FFFFFF"/>
                </a:highlight>
                <a:latin typeface="Arial"/>
                <a:ea typeface="Arial"/>
                <a:cs typeface="Arial"/>
                <a:sym typeface="Arial"/>
              </a:rPr>
              <a:t>l</a:t>
            </a:r>
            <a:r>
              <a:rPr lang="en">
                <a:solidFill>
                  <a:srgbClr val="262530"/>
                </a:solidFill>
                <a:highlight>
                  <a:srgbClr val="FFFFFF"/>
                </a:highlight>
                <a:latin typeface="Arial"/>
                <a:ea typeface="Arial"/>
                <a:cs typeface="Arial"/>
                <a:sym typeface="Arial"/>
              </a:rPr>
              <a:t>egacy software </a:t>
            </a:r>
            <a:endParaRPr>
              <a:solidFill>
                <a:srgbClr val="262530"/>
              </a:solidFill>
              <a:highlight>
                <a:srgbClr val="FFFFFF"/>
              </a:highlight>
              <a:latin typeface="Arial"/>
              <a:ea typeface="Arial"/>
              <a:cs typeface="Arial"/>
              <a:sym typeface="Arial"/>
            </a:endParaRPr>
          </a:p>
          <a:p>
            <a:pPr indent="-330200" lvl="0" marL="457200" rtl="0" algn="l">
              <a:spcBef>
                <a:spcPts val="0"/>
              </a:spcBef>
              <a:spcAft>
                <a:spcPts val="0"/>
              </a:spcAft>
              <a:buSzPts val="1600"/>
              <a:buChar char="●"/>
            </a:pPr>
            <a:r>
              <a:rPr lang="en">
                <a:solidFill>
                  <a:srgbClr val="262530"/>
                </a:solidFill>
                <a:highlight>
                  <a:schemeClr val="lt1"/>
                </a:highlight>
                <a:latin typeface="Arial"/>
                <a:ea typeface="Arial"/>
                <a:cs typeface="Arial"/>
                <a:sym typeface="Arial"/>
              </a:rPr>
              <a:t>Full migration to Amazon Web Services</a:t>
            </a:r>
            <a:endParaRPr>
              <a:solidFill>
                <a:srgbClr val="262530"/>
              </a:solidFill>
              <a:highlight>
                <a:schemeClr val="lt1"/>
              </a:highlight>
              <a:latin typeface="Arial"/>
              <a:ea typeface="Arial"/>
              <a:cs typeface="Arial"/>
              <a:sym typeface="Arial"/>
            </a:endParaRPr>
          </a:p>
          <a:p>
            <a:pPr indent="-304800" lvl="1" marL="914400" rtl="0" algn="l">
              <a:spcBef>
                <a:spcPts val="0"/>
              </a:spcBef>
              <a:spcAft>
                <a:spcPts val="0"/>
              </a:spcAft>
              <a:buClr>
                <a:srgbClr val="262530"/>
              </a:buClr>
              <a:buSzPts val="1200"/>
              <a:buFont typeface="Arial"/>
              <a:buChar char="○"/>
            </a:pPr>
            <a:r>
              <a:rPr lang="en">
                <a:solidFill>
                  <a:srgbClr val="262530"/>
                </a:solidFill>
                <a:highlight>
                  <a:srgbClr val="FFFFFF"/>
                </a:highlight>
                <a:latin typeface="Arial"/>
                <a:ea typeface="Arial"/>
                <a:cs typeface="Arial"/>
                <a:sym typeface="Arial"/>
              </a:rPr>
              <a:t>harden firewall, </a:t>
            </a:r>
            <a:r>
              <a:rPr lang="en">
                <a:solidFill>
                  <a:srgbClr val="262530"/>
                </a:solidFill>
                <a:highlight>
                  <a:schemeClr val="lt1"/>
                </a:highlight>
                <a:latin typeface="Arial"/>
                <a:ea typeface="Arial"/>
                <a:cs typeface="Arial"/>
                <a:sym typeface="Arial"/>
              </a:rPr>
              <a:t>segment your </a:t>
            </a:r>
            <a:r>
              <a:rPr lang="en">
                <a:solidFill>
                  <a:srgbClr val="262530"/>
                </a:solidFill>
                <a:highlight>
                  <a:srgbClr val="FFFFFF"/>
                </a:highlight>
                <a:latin typeface="Arial"/>
                <a:ea typeface="Arial"/>
                <a:cs typeface="Arial"/>
                <a:sym typeface="Arial"/>
              </a:rPr>
              <a:t>network and implement role based access control</a:t>
            </a:r>
            <a:endParaRPr b="1" sz="2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High-level Budget Estimation</a:t>
            </a:r>
            <a:endParaRPr/>
          </a:p>
        </p:txBody>
      </p:sp>
      <p:sp>
        <p:nvSpPr>
          <p:cNvPr id="229" name="Google Shape;229;p30"/>
          <p:cNvSpPr/>
          <p:nvPr/>
        </p:nvSpPr>
        <p:spPr>
          <a:xfrm rot="5400000">
            <a:off x="1222125" y="784603"/>
            <a:ext cx="872100" cy="1772400"/>
          </a:xfrm>
          <a:prstGeom prst="round2SameRect">
            <a:avLst>
              <a:gd fmla="val 16275" name="adj1"/>
              <a:gd fmla="val 0" name="adj2"/>
            </a:avLst>
          </a:prstGeom>
          <a:noFill/>
          <a:ln cap="flat" cmpd="sng" w="19050">
            <a:solidFill>
              <a:srgbClr val="FF008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highlight>
                <a:srgbClr val="FF0083"/>
              </a:highlight>
              <a:latin typeface="Montserrat SemiBold"/>
              <a:ea typeface="Montserrat SemiBold"/>
              <a:cs typeface="Montserrat SemiBold"/>
              <a:sym typeface="Montserrat SemiBold"/>
            </a:endParaRPr>
          </a:p>
        </p:txBody>
      </p:sp>
      <p:sp>
        <p:nvSpPr>
          <p:cNvPr id="230" name="Google Shape;230;p30"/>
          <p:cNvSpPr/>
          <p:nvPr/>
        </p:nvSpPr>
        <p:spPr>
          <a:xfrm rot="-5400000">
            <a:off x="127850" y="1462898"/>
            <a:ext cx="872100" cy="415800"/>
          </a:xfrm>
          <a:prstGeom prst="round2SameRect">
            <a:avLst>
              <a:gd fmla="val 3627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Montserrat SemiBold"/>
                <a:ea typeface="Montserrat SemiBold"/>
                <a:cs typeface="Montserrat SemiBold"/>
                <a:sym typeface="Montserrat SemiBold"/>
              </a:rPr>
              <a:t>Human c.</a:t>
            </a:r>
            <a:endParaRPr sz="900">
              <a:solidFill>
                <a:schemeClr val="lt1"/>
              </a:solidFill>
              <a:latin typeface="Montserrat SemiBold"/>
              <a:ea typeface="Montserrat SemiBold"/>
              <a:cs typeface="Montserrat SemiBold"/>
              <a:sym typeface="Montserrat SemiBold"/>
            </a:endParaRPr>
          </a:p>
        </p:txBody>
      </p:sp>
      <p:sp>
        <p:nvSpPr>
          <p:cNvPr id="231" name="Google Shape;231;p30"/>
          <p:cNvSpPr txBox="1"/>
          <p:nvPr/>
        </p:nvSpPr>
        <p:spPr>
          <a:xfrm>
            <a:off x="861775" y="1332669"/>
            <a:ext cx="15414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 </a:t>
            </a:r>
            <a:r>
              <a:rPr lang="en" sz="900">
                <a:solidFill>
                  <a:schemeClr val="dk2"/>
                </a:solidFill>
              </a:rPr>
              <a:t>Skilled security team and leadership</a:t>
            </a:r>
            <a:endParaRPr sz="900">
              <a:solidFill>
                <a:schemeClr val="dk2"/>
              </a:solidFill>
            </a:endParaRPr>
          </a:p>
          <a:p>
            <a:pPr indent="0" lvl="0" marL="0" rtl="0" algn="l">
              <a:spcBef>
                <a:spcPts val="0"/>
              </a:spcBef>
              <a:spcAft>
                <a:spcPts val="0"/>
              </a:spcAft>
              <a:buClr>
                <a:schemeClr val="dk2"/>
              </a:buClr>
              <a:buSzPts val="1100"/>
              <a:buFont typeface="Arial"/>
              <a:buNone/>
            </a:pPr>
            <a:r>
              <a:rPr lang="en" sz="900">
                <a:solidFill>
                  <a:schemeClr val="dk2"/>
                </a:solidFill>
              </a:rPr>
              <a:t>• Roles for analysis, response, and training</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sp>
        <p:nvSpPr>
          <p:cNvPr id="232" name="Google Shape;232;p30"/>
          <p:cNvSpPr/>
          <p:nvPr/>
        </p:nvSpPr>
        <p:spPr>
          <a:xfrm rot="5400000">
            <a:off x="1222125" y="1747873"/>
            <a:ext cx="872100" cy="1772400"/>
          </a:xfrm>
          <a:prstGeom prst="round2SameRect">
            <a:avLst>
              <a:gd fmla="val 16275" name="adj1"/>
              <a:gd fmla="val 0" name="adj2"/>
            </a:avLst>
          </a:prstGeom>
          <a:noFill/>
          <a:ln cap="flat" cmpd="sng" w="19050">
            <a:solidFill>
              <a:srgbClr val="65C0F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Montserrat SemiBold"/>
              <a:ea typeface="Montserrat SemiBold"/>
              <a:cs typeface="Montserrat SemiBold"/>
              <a:sym typeface="Montserrat SemiBold"/>
            </a:endParaRPr>
          </a:p>
        </p:txBody>
      </p:sp>
      <p:sp>
        <p:nvSpPr>
          <p:cNvPr id="233" name="Google Shape;233;p30"/>
          <p:cNvSpPr/>
          <p:nvPr/>
        </p:nvSpPr>
        <p:spPr>
          <a:xfrm rot="-5400000">
            <a:off x="127850" y="2426162"/>
            <a:ext cx="872100" cy="415800"/>
          </a:xfrm>
          <a:prstGeom prst="round2SameRect">
            <a:avLst>
              <a:gd fmla="val 36270" name="adj1"/>
              <a:gd fmla="val 0" name="adj2"/>
            </a:avLst>
          </a:prstGeom>
          <a:solidFill>
            <a:srgbClr val="00000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Montserrat SemiBold"/>
                <a:ea typeface="Montserrat SemiBold"/>
                <a:cs typeface="Montserrat SemiBold"/>
                <a:sym typeface="Montserrat SemiBold"/>
              </a:rPr>
              <a:t>Hardware</a:t>
            </a:r>
            <a:endParaRPr sz="900">
              <a:solidFill>
                <a:schemeClr val="lt1"/>
              </a:solidFill>
              <a:latin typeface="Montserrat SemiBold"/>
              <a:ea typeface="Montserrat SemiBold"/>
              <a:cs typeface="Montserrat SemiBold"/>
              <a:sym typeface="Montserrat SemiBold"/>
            </a:endParaRPr>
          </a:p>
        </p:txBody>
      </p:sp>
      <p:sp>
        <p:nvSpPr>
          <p:cNvPr id="234" name="Google Shape;234;p30"/>
          <p:cNvSpPr txBox="1"/>
          <p:nvPr/>
        </p:nvSpPr>
        <p:spPr>
          <a:xfrm>
            <a:off x="861775" y="2290422"/>
            <a:ext cx="15414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 </a:t>
            </a:r>
            <a:r>
              <a:rPr lang="en" sz="900">
                <a:solidFill>
                  <a:schemeClr val="dk2"/>
                </a:solidFill>
              </a:rPr>
              <a:t>Firewalls, IDS/IPS, SIEM, and EDR</a:t>
            </a:r>
            <a:endParaRPr sz="900">
              <a:solidFill>
                <a:schemeClr val="dk2"/>
              </a:solidFill>
            </a:endParaRPr>
          </a:p>
          <a:p>
            <a:pPr indent="0" lvl="0" marL="0" rtl="0" algn="l">
              <a:spcBef>
                <a:spcPts val="0"/>
              </a:spcBef>
              <a:spcAft>
                <a:spcPts val="0"/>
              </a:spcAft>
              <a:buNone/>
            </a:pPr>
            <a:r>
              <a:rPr lang="en" sz="900">
                <a:solidFill>
                  <a:schemeClr val="dk2"/>
                </a:solidFill>
              </a:rPr>
              <a:t>• Essential for network and endpoint defense</a:t>
            </a:r>
            <a:endParaRPr sz="900">
              <a:solidFill>
                <a:schemeClr val="dk2"/>
              </a:solidFill>
            </a:endParaRPr>
          </a:p>
        </p:txBody>
      </p:sp>
      <p:sp>
        <p:nvSpPr>
          <p:cNvPr id="235" name="Google Shape;235;p30"/>
          <p:cNvSpPr/>
          <p:nvPr/>
        </p:nvSpPr>
        <p:spPr>
          <a:xfrm rot="5400000">
            <a:off x="1222125" y="3674403"/>
            <a:ext cx="872100" cy="1772400"/>
          </a:xfrm>
          <a:prstGeom prst="round2SameRect">
            <a:avLst>
              <a:gd fmla="val 16275" name="adj1"/>
              <a:gd fmla="val 0" name="adj2"/>
            </a:avLst>
          </a:prstGeom>
          <a:noFill/>
          <a:ln cap="flat" cmpd="sng" w="19050">
            <a:solidFill>
              <a:srgbClr val="F4652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Montserrat SemiBold"/>
              <a:ea typeface="Montserrat SemiBold"/>
              <a:cs typeface="Montserrat SemiBold"/>
              <a:sym typeface="Montserrat SemiBold"/>
            </a:endParaRPr>
          </a:p>
        </p:txBody>
      </p:sp>
      <p:sp>
        <p:nvSpPr>
          <p:cNvPr id="236" name="Google Shape;236;p30"/>
          <p:cNvSpPr/>
          <p:nvPr/>
        </p:nvSpPr>
        <p:spPr>
          <a:xfrm rot="-5400000">
            <a:off x="127850" y="4352698"/>
            <a:ext cx="872100" cy="415800"/>
          </a:xfrm>
          <a:prstGeom prst="round2SameRect">
            <a:avLst>
              <a:gd fmla="val 3627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900">
                <a:solidFill>
                  <a:schemeClr val="lt1"/>
                </a:solidFill>
                <a:latin typeface="Montserrat SemiBold"/>
                <a:ea typeface="Montserrat SemiBold"/>
                <a:cs typeface="Montserrat SemiBold"/>
                <a:sym typeface="Montserrat SemiBold"/>
              </a:rPr>
              <a:t>Maint.</a:t>
            </a:r>
            <a:endParaRPr sz="900">
              <a:solidFill>
                <a:schemeClr val="lt1"/>
              </a:solidFill>
              <a:latin typeface="Montserrat SemiBold"/>
              <a:ea typeface="Montserrat SemiBold"/>
              <a:cs typeface="Montserrat SemiBold"/>
              <a:sym typeface="Montserrat SemiBold"/>
            </a:endParaRPr>
          </a:p>
        </p:txBody>
      </p:sp>
      <p:sp>
        <p:nvSpPr>
          <p:cNvPr id="237" name="Google Shape;237;p30"/>
          <p:cNvSpPr txBox="1"/>
          <p:nvPr/>
        </p:nvSpPr>
        <p:spPr>
          <a:xfrm>
            <a:off x="861775" y="4228120"/>
            <a:ext cx="1541400" cy="701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 </a:t>
            </a:r>
            <a:r>
              <a:rPr lang="en" sz="900">
                <a:solidFill>
                  <a:schemeClr val="dk2"/>
                </a:solidFill>
              </a:rPr>
              <a:t>Staff training and system upkeep</a:t>
            </a:r>
            <a:endParaRPr sz="900">
              <a:solidFill>
                <a:schemeClr val="dk2"/>
              </a:solidFill>
            </a:endParaRPr>
          </a:p>
          <a:p>
            <a:pPr indent="0" lvl="0" marL="0" rtl="0" algn="l">
              <a:spcBef>
                <a:spcPts val="0"/>
              </a:spcBef>
              <a:spcAft>
                <a:spcPts val="0"/>
              </a:spcAft>
              <a:buNone/>
            </a:pPr>
            <a:r>
              <a:rPr lang="en" sz="900">
                <a:solidFill>
                  <a:schemeClr val="dk2"/>
                </a:solidFill>
              </a:rPr>
              <a:t>• Regular updates and support services</a:t>
            </a:r>
            <a:endParaRPr sz="900">
              <a:solidFill>
                <a:schemeClr val="dk2"/>
              </a:solidFill>
            </a:endParaRPr>
          </a:p>
        </p:txBody>
      </p:sp>
      <p:sp>
        <p:nvSpPr>
          <p:cNvPr id="238" name="Google Shape;238;p30"/>
          <p:cNvSpPr/>
          <p:nvPr/>
        </p:nvSpPr>
        <p:spPr>
          <a:xfrm rot="5400000">
            <a:off x="1222125" y="2711138"/>
            <a:ext cx="872100" cy="1772400"/>
          </a:xfrm>
          <a:prstGeom prst="round2SameRect">
            <a:avLst>
              <a:gd fmla="val 16275" name="adj1"/>
              <a:gd fmla="val 0" name="adj2"/>
            </a:avLst>
          </a:prstGeom>
          <a:noFill/>
          <a:ln cap="flat" cmpd="sng" w="19050">
            <a:solidFill>
              <a:srgbClr val="F6B80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600">
              <a:solidFill>
                <a:schemeClr val="dk1"/>
              </a:solidFill>
              <a:latin typeface="Montserrat SemiBold"/>
              <a:ea typeface="Montserrat SemiBold"/>
              <a:cs typeface="Montserrat SemiBold"/>
              <a:sym typeface="Montserrat SemiBold"/>
            </a:endParaRPr>
          </a:p>
        </p:txBody>
      </p:sp>
      <p:sp>
        <p:nvSpPr>
          <p:cNvPr id="239" name="Google Shape;239;p30"/>
          <p:cNvSpPr/>
          <p:nvPr/>
        </p:nvSpPr>
        <p:spPr>
          <a:xfrm rot="-5400000">
            <a:off x="127850" y="3389433"/>
            <a:ext cx="872100" cy="415800"/>
          </a:xfrm>
          <a:prstGeom prst="round2SameRect">
            <a:avLst>
              <a:gd fmla="val 36270" name="adj1"/>
              <a:gd fmla="val 0" name="adj2"/>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chemeClr val="lt1"/>
                </a:solidFill>
                <a:latin typeface="Montserrat SemiBold"/>
                <a:ea typeface="Montserrat SemiBold"/>
                <a:cs typeface="Montserrat SemiBold"/>
                <a:sym typeface="Montserrat SemiBold"/>
              </a:rPr>
              <a:t>Software</a:t>
            </a:r>
            <a:endParaRPr sz="1000">
              <a:solidFill>
                <a:schemeClr val="lt1"/>
              </a:solidFill>
              <a:latin typeface="Montserrat SemiBold"/>
              <a:ea typeface="Montserrat SemiBold"/>
              <a:cs typeface="Montserrat SemiBold"/>
              <a:sym typeface="Montserrat SemiBold"/>
            </a:endParaRPr>
          </a:p>
        </p:txBody>
      </p:sp>
      <p:sp>
        <p:nvSpPr>
          <p:cNvPr id="240" name="Google Shape;240;p30"/>
          <p:cNvSpPr txBox="1"/>
          <p:nvPr/>
        </p:nvSpPr>
        <p:spPr>
          <a:xfrm>
            <a:off x="861775" y="3290324"/>
            <a:ext cx="1541400" cy="63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chemeClr val="dk2"/>
                </a:solidFill>
              </a:rPr>
              <a:t>• </a:t>
            </a:r>
            <a:r>
              <a:rPr lang="en" sz="900">
                <a:solidFill>
                  <a:schemeClr val="dk2"/>
                </a:solidFill>
              </a:rPr>
              <a:t>Protection, detection, and compliance tools</a:t>
            </a:r>
            <a:endParaRPr sz="900">
              <a:solidFill>
                <a:schemeClr val="dk2"/>
              </a:solidFill>
            </a:endParaRPr>
          </a:p>
          <a:p>
            <a:pPr indent="0" lvl="0" marL="0" rtl="0" algn="l">
              <a:spcBef>
                <a:spcPts val="0"/>
              </a:spcBef>
              <a:spcAft>
                <a:spcPts val="0"/>
              </a:spcAft>
              <a:buNone/>
            </a:pPr>
            <a:r>
              <a:rPr lang="en" sz="900">
                <a:solidFill>
                  <a:schemeClr val="dk2"/>
                </a:solidFill>
              </a:rPr>
              <a:t>• </a:t>
            </a:r>
            <a:r>
              <a:rPr lang="en" sz="900">
                <a:solidFill>
                  <a:schemeClr val="dk2"/>
                </a:solidFill>
              </a:rPr>
              <a:t>Includes endpoint, cloud, and threat intelligence</a:t>
            </a:r>
            <a:endParaRPr sz="900">
              <a:solidFill>
                <a:schemeClr val="dk2"/>
              </a:solidFill>
            </a:endParaRPr>
          </a:p>
        </p:txBody>
      </p:sp>
      <p:pic>
        <p:nvPicPr>
          <p:cNvPr id="241" name="Google Shape;241;p30"/>
          <p:cNvPicPr preferRelativeResize="0"/>
          <p:nvPr/>
        </p:nvPicPr>
        <p:blipFill>
          <a:blip r:embed="rId3">
            <a:alphaModFix/>
          </a:blip>
          <a:stretch>
            <a:fillRect/>
          </a:stretch>
        </p:blipFill>
        <p:spPr>
          <a:xfrm>
            <a:off x="2696775" y="1203575"/>
            <a:ext cx="4894932" cy="37875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1"/>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Risk Assessment</a:t>
            </a:r>
            <a:endParaRPr/>
          </a:p>
        </p:txBody>
      </p:sp>
      <p:pic>
        <p:nvPicPr>
          <p:cNvPr id="247" name="Google Shape;247;p31"/>
          <p:cNvPicPr preferRelativeResize="0"/>
          <p:nvPr/>
        </p:nvPicPr>
        <p:blipFill>
          <a:blip r:embed="rId3">
            <a:alphaModFix/>
          </a:blip>
          <a:stretch>
            <a:fillRect/>
          </a:stretch>
        </p:blipFill>
        <p:spPr>
          <a:xfrm>
            <a:off x="152400" y="1203575"/>
            <a:ext cx="8764805" cy="37875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Challenges</a:t>
            </a:r>
            <a:endParaRPr>
              <a:solidFill>
                <a:schemeClr val="dk1"/>
              </a:solidFill>
            </a:endParaRPr>
          </a:p>
        </p:txBody>
      </p:sp>
      <p:sp>
        <p:nvSpPr>
          <p:cNvPr id="253" name="Google Shape;253;p32"/>
          <p:cNvSpPr txBox="1"/>
          <p:nvPr>
            <p:ph idx="1" type="body"/>
          </p:nvPr>
        </p:nvSpPr>
        <p:spPr>
          <a:xfrm>
            <a:off x="2410100" y="1136400"/>
            <a:ext cx="6321600" cy="346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900"/>
              <a:t>GRC International Laws</a:t>
            </a:r>
            <a:endParaRPr b="1" sz="900"/>
          </a:p>
          <a:p>
            <a:pPr indent="-285750" lvl="0" marL="457200" rtl="0" algn="l">
              <a:spcBef>
                <a:spcPts val="1600"/>
              </a:spcBef>
              <a:spcAft>
                <a:spcPts val="0"/>
              </a:spcAft>
              <a:buSzPts val="900"/>
              <a:buChar char="●"/>
            </a:pPr>
            <a:r>
              <a:rPr lang="en" sz="900"/>
              <a:t>Impact: Non-compliance risks heavy fines and legal challenges globally, impacting reputation and operations.</a:t>
            </a:r>
            <a:endParaRPr sz="900"/>
          </a:p>
          <a:p>
            <a:pPr indent="-285750" lvl="0" marL="457200" rtl="0" algn="l">
              <a:spcBef>
                <a:spcPts val="0"/>
              </a:spcBef>
              <a:spcAft>
                <a:spcPts val="0"/>
              </a:spcAft>
              <a:buSzPts val="900"/>
              <a:buChar char="●"/>
            </a:pPr>
            <a:r>
              <a:rPr lang="en" sz="900"/>
              <a:t>Mitigation: Establish a dedicated GRC team to monitor and adapt to regulatory changes across all markets.</a:t>
            </a:r>
            <a:endParaRPr sz="900"/>
          </a:p>
          <a:p>
            <a:pPr indent="0" lvl="0" marL="0" rtl="0" algn="l">
              <a:spcBef>
                <a:spcPts val="1600"/>
              </a:spcBef>
              <a:spcAft>
                <a:spcPts val="0"/>
              </a:spcAft>
              <a:buNone/>
            </a:pPr>
            <a:r>
              <a:rPr b="1" lang="en" sz="900"/>
              <a:t>Constantly Emerging Cyber threats</a:t>
            </a:r>
            <a:endParaRPr b="1" sz="900"/>
          </a:p>
          <a:p>
            <a:pPr indent="-285750" lvl="0" marL="457200" rtl="0" algn="l">
              <a:spcBef>
                <a:spcPts val="1600"/>
              </a:spcBef>
              <a:spcAft>
                <a:spcPts val="0"/>
              </a:spcAft>
              <a:buSzPts val="900"/>
              <a:buChar char="●"/>
            </a:pPr>
            <a:r>
              <a:rPr lang="en" sz="900"/>
              <a:t>Impact:	 Constant threats can overwhelm defenses, leading to potential data breaches and financial loss.</a:t>
            </a:r>
            <a:endParaRPr sz="900"/>
          </a:p>
          <a:p>
            <a:pPr indent="-285750" lvl="0" marL="457200" rtl="0" algn="l">
              <a:spcBef>
                <a:spcPts val="0"/>
              </a:spcBef>
              <a:spcAft>
                <a:spcPts val="0"/>
              </a:spcAft>
              <a:buSzPts val="900"/>
              <a:buChar char="●"/>
            </a:pPr>
            <a:r>
              <a:rPr lang="en" sz="900"/>
              <a:t>Mitigation: Implement a proactive threat intelligence platform and update systems frequently to respond to evolving threats.</a:t>
            </a:r>
            <a:endParaRPr sz="900"/>
          </a:p>
          <a:p>
            <a:pPr indent="0" lvl="0" marL="0" rtl="0" algn="l">
              <a:spcBef>
                <a:spcPts val="1600"/>
              </a:spcBef>
              <a:spcAft>
                <a:spcPts val="0"/>
              </a:spcAft>
              <a:buClr>
                <a:schemeClr val="dk2"/>
              </a:buClr>
              <a:buSzPts val="1100"/>
              <a:buFont typeface="Arial"/>
              <a:buNone/>
            </a:pPr>
            <a:r>
              <a:rPr b="1" lang="en" sz="900"/>
              <a:t>Human Error at your Enterprise</a:t>
            </a:r>
            <a:endParaRPr b="1" sz="900"/>
          </a:p>
          <a:p>
            <a:pPr indent="-285750" lvl="0" marL="457200" rtl="0" algn="l">
              <a:spcBef>
                <a:spcPts val="1600"/>
              </a:spcBef>
              <a:spcAft>
                <a:spcPts val="0"/>
              </a:spcAft>
              <a:buSzPts val="900"/>
              <a:buChar char="●"/>
            </a:pPr>
            <a:r>
              <a:rPr lang="en" sz="900"/>
              <a:t>Impact: Employee errors increase vulnerability, risking data exposure and security breaches.</a:t>
            </a:r>
            <a:endParaRPr sz="900"/>
          </a:p>
          <a:p>
            <a:pPr indent="-285750" lvl="0" marL="457200" rtl="0" algn="l">
              <a:spcBef>
                <a:spcPts val="0"/>
              </a:spcBef>
              <a:spcAft>
                <a:spcPts val="0"/>
              </a:spcAft>
              <a:buSzPts val="900"/>
              <a:buChar char="●"/>
            </a:pPr>
            <a:r>
              <a:rPr lang="en" sz="900"/>
              <a:t>Mitigation: Regular security awareness training and clear protocols can reduce human error risks across the workforce.</a:t>
            </a:r>
            <a:endParaRPr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7" name="Shape 257"/>
        <p:cNvGrpSpPr/>
        <p:nvPr/>
      </p:nvGrpSpPr>
      <p:grpSpPr>
        <a:xfrm>
          <a:off x="0" y="0"/>
          <a:ext cx="0" cy="0"/>
          <a:chOff x="0" y="0"/>
          <a:chExt cx="0" cy="0"/>
        </a:xfrm>
      </p:grpSpPr>
      <p:sp>
        <p:nvSpPr>
          <p:cNvPr id="258" name="Google Shape;258;p33"/>
          <p:cNvSpPr txBox="1"/>
          <p:nvPr>
            <p:ph type="title"/>
          </p:nvPr>
        </p:nvSpPr>
        <p:spPr>
          <a:xfrm>
            <a:off x="265500" y="1912650"/>
            <a:ext cx="4045200" cy="1318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0083"/>
                </a:solidFill>
              </a:rPr>
              <a:t>Why Hire Team2</a:t>
            </a:r>
            <a:endParaRPr>
              <a:solidFill>
                <a:srgbClr val="FF0083"/>
              </a:solidFill>
            </a:endParaRPr>
          </a:p>
        </p:txBody>
      </p:sp>
      <p:sp>
        <p:nvSpPr>
          <p:cNvPr id="259" name="Google Shape;259;p33"/>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lang="en"/>
              <a:t>We anticipate challenges, and quickly will pivot our </a:t>
            </a:r>
            <a:r>
              <a:rPr lang="en"/>
              <a:t>strategy</a:t>
            </a:r>
            <a:r>
              <a:rPr lang="en"/>
              <a:t> accordingly</a:t>
            </a:r>
            <a:endParaRPr/>
          </a:p>
          <a:p>
            <a:pPr indent="-342900" lvl="0" marL="457200" rtl="0" algn="l">
              <a:spcBef>
                <a:spcPts val="1600"/>
              </a:spcBef>
              <a:spcAft>
                <a:spcPts val="0"/>
              </a:spcAft>
              <a:buSzPts val="1800"/>
              <a:buAutoNum type="arabicPeriod"/>
            </a:pPr>
            <a:r>
              <a:rPr lang="en"/>
              <a:t>∞ Constant communication will remain established. We will be sure to </a:t>
            </a:r>
            <a:r>
              <a:rPr lang="en"/>
              <a:t>meaningfully </a:t>
            </a:r>
            <a:r>
              <a:rPr lang="en"/>
              <a:t>respond to stakeholder feedback</a:t>
            </a:r>
            <a:endParaRPr/>
          </a:p>
          <a:p>
            <a:pPr indent="-342900" lvl="0" marL="457200" rtl="0" algn="l">
              <a:spcBef>
                <a:spcPts val="1600"/>
              </a:spcBef>
              <a:spcAft>
                <a:spcPts val="1600"/>
              </a:spcAft>
              <a:buSzPts val="1800"/>
              <a:buAutoNum type="arabicPeriod"/>
            </a:pPr>
            <a:r>
              <a:rPr lang="en"/>
              <a:t>Our roadmap aligns perfectly with Lemonade’s s</a:t>
            </a:r>
            <a:r>
              <a:rPr lang="en"/>
              <a:t>takeholder</a:t>
            </a:r>
            <a:r>
              <a:rPr lang="en"/>
              <a:t> </a:t>
            </a:r>
            <a:r>
              <a:rPr lang="en"/>
              <a:t>expectations and pain points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4"/>
          <p:cNvSpPr txBox="1"/>
          <p:nvPr>
            <p:ph type="title"/>
          </p:nvPr>
        </p:nvSpPr>
        <p:spPr>
          <a:xfrm>
            <a:off x="1411200" y="639225"/>
            <a:ext cx="6321600" cy="6354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900">
                <a:solidFill>
                  <a:srgbClr val="262530"/>
                </a:solidFill>
                <a:highlight>
                  <a:srgbClr val="FFFFFF"/>
                </a:highlight>
                <a:latin typeface="Arial"/>
                <a:ea typeface="Arial"/>
                <a:cs typeface="Arial"/>
                <a:sym typeface="Arial"/>
              </a:rPr>
              <a:t>Milestones &amp; Timeline</a:t>
            </a:r>
            <a:endParaRPr sz="1900">
              <a:solidFill>
                <a:srgbClr val="262530"/>
              </a:solidFill>
              <a:highlight>
                <a:srgbClr val="FFFFFF"/>
              </a:highlight>
              <a:latin typeface="Arial"/>
              <a:ea typeface="Arial"/>
              <a:cs typeface="Arial"/>
              <a:sym typeface="Arial"/>
            </a:endParaRPr>
          </a:p>
          <a:p>
            <a:pPr indent="0" lvl="0" marL="0" rtl="0" algn="l">
              <a:lnSpc>
                <a:spcPct val="115000"/>
              </a:lnSpc>
              <a:spcBef>
                <a:spcPts val="0"/>
              </a:spcBef>
              <a:spcAft>
                <a:spcPts val="0"/>
              </a:spcAft>
              <a:buNone/>
            </a:pPr>
            <a:r>
              <a:rPr b="0" lang="en" sz="1400">
                <a:solidFill>
                  <a:srgbClr val="262530"/>
                </a:solidFill>
                <a:highlight>
                  <a:srgbClr val="FFFFFF"/>
                </a:highlight>
                <a:latin typeface="Arial"/>
                <a:ea typeface="Arial"/>
                <a:cs typeface="Arial"/>
                <a:sym typeface="Arial"/>
              </a:rPr>
              <a:t>Each phase = 3 months. Quarterly benchmarks</a:t>
            </a:r>
            <a:endParaRPr sz="1400">
              <a:solidFill>
                <a:srgbClr val="262530"/>
              </a:solidFill>
              <a:highlight>
                <a:srgbClr val="FFFFFF"/>
              </a:highlight>
              <a:latin typeface="Arial"/>
              <a:ea typeface="Arial"/>
              <a:cs typeface="Arial"/>
              <a:sym typeface="Arial"/>
            </a:endParaRPr>
          </a:p>
        </p:txBody>
      </p:sp>
      <p:sp>
        <p:nvSpPr>
          <p:cNvPr id="265" name="Google Shape;265;p34"/>
          <p:cNvSpPr txBox="1"/>
          <p:nvPr>
            <p:ph idx="1" type="body"/>
          </p:nvPr>
        </p:nvSpPr>
        <p:spPr>
          <a:xfrm>
            <a:off x="172600" y="1315900"/>
            <a:ext cx="4019400" cy="300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rgbClr val="262530"/>
                </a:solidFill>
                <a:highlight>
                  <a:srgbClr val="FFFFFF"/>
                </a:highlight>
                <a:latin typeface="Arial"/>
                <a:ea typeface="Arial"/>
                <a:cs typeface="Arial"/>
                <a:sym typeface="Arial"/>
              </a:rPr>
              <a:t>Phase 1, Gap Analysis</a:t>
            </a:r>
            <a:r>
              <a:rPr lang="en">
                <a:solidFill>
                  <a:srgbClr val="262530"/>
                </a:solidFill>
                <a:highlight>
                  <a:srgbClr val="FFFFFF"/>
                </a:highlight>
                <a:latin typeface="Arial"/>
                <a:ea typeface="Arial"/>
                <a:cs typeface="Arial"/>
                <a:sym typeface="Arial"/>
              </a:rPr>
              <a:t>,</a:t>
            </a:r>
            <a:r>
              <a:rPr lang="en" sz="1100">
                <a:latin typeface="Arial"/>
                <a:ea typeface="Arial"/>
                <a:cs typeface="Arial"/>
                <a:sym typeface="Arial"/>
              </a:rPr>
              <a:t>J</a:t>
            </a:r>
            <a:r>
              <a:rPr b="1" lang="en" sz="1100">
                <a:latin typeface="Arial"/>
                <a:ea typeface="Arial"/>
                <a:cs typeface="Arial"/>
                <a:sym typeface="Arial"/>
              </a:rPr>
              <a:t>anuary to March;</a:t>
            </a:r>
            <a:r>
              <a:rPr lang="en" sz="1100">
                <a:latin typeface="Arial"/>
                <a:ea typeface="Arial"/>
                <a:cs typeface="Arial"/>
                <a:sym typeface="Arial"/>
              </a:rPr>
              <a:t> Identify vulnerabilities, risks, and develop a prioritized roadmap.</a:t>
            </a:r>
            <a:endParaRPr>
              <a:solidFill>
                <a:srgbClr val="262530"/>
              </a:solidFill>
              <a:highlight>
                <a:srgbClr val="FFFFFF"/>
              </a:highlight>
              <a:latin typeface="Arial"/>
              <a:ea typeface="Arial"/>
              <a:cs typeface="Arial"/>
              <a:sym typeface="Arial"/>
            </a:endParaRPr>
          </a:p>
          <a:p>
            <a:pPr indent="0" lvl="0" marL="0" rtl="0" algn="l">
              <a:spcBef>
                <a:spcPts val="0"/>
              </a:spcBef>
              <a:spcAft>
                <a:spcPts val="0"/>
              </a:spcAft>
              <a:buNone/>
            </a:pPr>
            <a:r>
              <a:rPr b="1" lang="en" sz="1100">
                <a:solidFill>
                  <a:srgbClr val="262530"/>
                </a:solidFill>
                <a:highlight>
                  <a:srgbClr val="FFFFFF"/>
                </a:highlight>
                <a:latin typeface="Arial"/>
                <a:ea typeface="Arial"/>
                <a:cs typeface="Arial"/>
                <a:sym typeface="Arial"/>
              </a:rPr>
              <a:t>Phase 2: Level up your team</a:t>
            </a:r>
            <a:r>
              <a:rPr lang="en" sz="1100">
                <a:solidFill>
                  <a:srgbClr val="262530"/>
                </a:solidFill>
                <a:highlight>
                  <a:srgbClr val="FFFFFF"/>
                </a:highlight>
                <a:latin typeface="Arial"/>
                <a:ea typeface="Arial"/>
                <a:cs typeface="Arial"/>
                <a:sym typeface="Arial"/>
              </a:rPr>
              <a:t>,</a:t>
            </a:r>
            <a:r>
              <a:rPr b="1" lang="en" sz="1100">
                <a:solidFill>
                  <a:srgbClr val="262530"/>
                </a:solidFill>
                <a:highlight>
                  <a:srgbClr val="FFFFFF"/>
                </a:highlight>
                <a:latin typeface="Arial"/>
                <a:ea typeface="Arial"/>
                <a:cs typeface="Arial"/>
                <a:sym typeface="Arial"/>
              </a:rPr>
              <a:t>April to June;</a:t>
            </a:r>
            <a:r>
              <a:rPr lang="en" sz="1100">
                <a:latin typeface="Arial"/>
                <a:ea typeface="Arial"/>
                <a:cs typeface="Arial"/>
                <a:sym typeface="Arial"/>
              </a:rPr>
              <a:t> cybersecurity awareness training, implement ongoing security training programs, and certify key personnel.</a:t>
            </a:r>
            <a:endParaRPr sz="1100">
              <a:latin typeface="Arial"/>
              <a:ea typeface="Arial"/>
              <a:cs typeface="Arial"/>
              <a:sym typeface="Arial"/>
            </a:endParaRPr>
          </a:p>
          <a:p>
            <a:pPr indent="0" lvl="0" marL="0" rtl="0" algn="l">
              <a:spcBef>
                <a:spcPts val="0"/>
              </a:spcBef>
              <a:spcAft>
                <a:spcPts val="0"/>
              </a:spcAft>
              <a:buNone/>
            </a:pPr>
            <a:r>
              <a:rPr b="1" lang="en" sz="1100">
                <a:solidFill>
                  <a:srgbClr val="262530"/>
                </a:solidFill>
                <a:highlight>
                  <a:srgbClr val="FFFFFF"/>
                </a:highlight>
                <a:latin typeface="Arial"/>
                <a:ea typeface="Arial"/>
                <a:cs typeface="Arial"/>
                <a:sym typeface="Arial"/>
              </a:rPr>
              <a:t>Phase 3: We hire contractor,</a:t>
            </a:r>
            <a:r>
              <a:rPr lang="en" sz="1100">
                <a:solidFill>
                  <a:srgbClr val="262530"/>
                </a:solidFill>
                <a:highlight>
                  <a:schemeClr val="lt1"/>
                </a:highlight>
                <a:latin typeface="Arial"/>
                <a:ea typeface="Arial"/>
                <a:cs typeface="Arial"/>
                <a:sym typeface="Arial"/>
              </a:rPr>
              <a:t>J</a:t>
            </a:r>
            <a:r>
              <a:rPr b="1" lang="en" sz="1100">
                <a:solidFill>
                  <a:srgbClr val="262530"/>
                </a:solidFill>
                <a:highlight>
                  <a:schemeClr val="lt1"/>
                </a:highlight>
                <a:latin typeface="Arial"/>
                <a:ea typeface="Arial"/>
                <a:cs typeface="Arial"/>
                <a:sym typeface="Arial"/>
              </a:rPr>
              <a:t>uly to September</a:t>
            </a:r>
            <a:r>
              <a:rPr lang="en" sz="1100">
                <a:solidFill>
                  <a:srgbClr val="262530"/>
                </a:solidFill>
                <a:highlight>
                  <a:schemeClr val="lt1"/>
                </a:highlight>
                <a:latin typeface="Arial"/>
                <a:ea typeface="Arial"/>
                <a:cs typeface="Arial"/>
                <a:sym typeface="Arial"/>
              </a:rPr>
              <a:t>;Recruit, onboard, and integrate specialist, defining team role scope.</a:t>
            </a:r>
            <a:endParaRPr sz="1100">
              <a:solidFill>
                <a:srgbClr val="262530"/>
              </a:solidFill>
              <a:highlight>
                <a:srgbClr val="FFFFFF"/>
              </a:highlight>
              <a:latin typeface="Arial"/>
              <a:ea typeface="Arial"/>
              <a:cs typeface="Arial"/>
              <a:sym typeface="Arial"/>
            </a:endParaRPr>
          </a:p>
          <a:p>
            <a:pPr indent="0" lvl="0" marL="0" rtl="0" algn="l">
              <a:spcBef>
                <a:spcPts val="0"/>
              </a:spcBef>
              <a:spcAft>
                <a:spcPts val="0"/>
              </a:spcAft>
              <a:buNone/>
            </a:pPr>
            <a:r>
              <a:rPr b="1" lang="en" sz="1100">
                <a:solidFill>
                  <a:srgbClr val="262530"/>
                </a:solidFill>
                <a:highlight>
                  <a:srgbClr val="FFFFFF"/>
                </a:highlight>
                <a:latin typeface="Arial"/>
                <a:ea typeface="Arial"/>
                <a:cs typeface="Arial"/>
                <a:sym typeface="Arial"/>
              </a:rPr>
              <a:t>Phase 4: Implement advanced cyber systems</a:t>
            </a:r>
            <a:r>
              <a:rPr b="1" lang="en">
                <a:solidFill>
                  <a:srgbClr val="262530"/>
                </a:solidFill>
                <a:highlight>
                  <a:srgbClr val="FFFFFF"/>
                </a:highlight>
                <a:latin typeface="Arial"/>
                <a:ea typeface="Arial"/>
                <a:cs typeface="Arial"/>
                <a:sym typeface="Arial"/>
              </a:rPr>
              <a:t>,</a:t>
            </a:r>
            <a:r>
              <a:rPr b="1" lang="en" sz="1100">
                <a:solidFill>
                  <a:srgbClr val="262530"/>
                </a:solidFill>
                <a:highlight>
                  <a:schemeClr val="lt1"/>
                </a:highlight>
                <a:latin typeface="Arial"/>
                <a:ea typeface="Arial"/>
                <a:cs typeface="Arial"/>
                <a:sym typeface="Arial"/>
              </a:rPr>
              <a:t>October to December; </a:t>
            </a:r>
            <a:r>
              <a:rPr lang="en" sz="1100">
                <a:solidFill>
                  <a:srgbClr val="262530"/>
                </a:solidFill>
                <a:highlight>
                  <a:schemeClr val="lt1"/>
                </a:highlight>
                <a:latin typeface="Arial"/>
                <a:ea typeface="Arial"/>
                <a:cs typeface="Arial"/>
                <a:sym typeface="Arial"/>
              </a:rPr>
              <a:t>deploy,configure advanced security solutions, conduct regular security and penetration testing.</a:t>
            </a:r>
            <a:endParaRPr sz="1100">
              <a:solidFill>
                <a:srgbClr val="262530"/>
              </a:solidFill>
              <a:highlight>
                <a:schemeClr val="lt1"/>
              </a:highlight>
              <a:latin typeface="Arial"/>
              <a:ea typeface="Arial"/>
              <a:cs typeface="Arial"/>
              <a:sym typeface="Arial"/>
            </a:endParaRPr>
          </a:p>
          <a:p>
            <a:pPr indent="0" lvl="0" marL="0" rtl="0" algn="l">
              <a:spcBef>
                <a:spcPts val="0"/>
              </a:spcBef>
              <a:spcAft>
                <a:spcPts val="0"/>
              </a:spcAft>
              <a:buNone/>
            </a:pPr>
            <a:r>
              <a:rPr b="1" lang="en" sz="1100">
                <a:solidFill>
                  <a:srgbClr val="262530"/>
                </a:solidFill>
                <a:highlight>
                  <a:srgbClr val="FFFFFF"/>
                </a:highlight>
                <a:latin typeface="Arial"/>
                <a:ea typeface="Arial"/>
                <a:cs typeface="Arial"/>
                <a:sym typeface="Arial"/>
              </a:rPr>
              <a:t>Phase 5: Ongoing improvement</a:t>
            </a:r>
            <a:r>
              <a:rPr lang="en" sz="1100">
                <a:solidFill>
                  <a:srgbClr val="262530"/>
                </a:solidFill>
                <a:highlight>
                  <a:srgbClr val="FFFFFF"/>
                </a:highlight>
                <a:latin typeface="Arial"/>
                <a:ea typeface="Arial"/>
                <a:cs typeface="Arial"/>
                <a:sym typeface="Arial"/>
              </a:rPr>
              <a:t>;</a:t>
            </a:r>
            <a:r>
              <a:rPr lang="en" sz="1100">
                <a:solidFill>
                  <a:srgbClr val="262530"/>
                </a:solidFill>
                <a:highlight>
                  <a:schemeClr val="lt1"/>
                </a:highlight>
                <a:latin typeface="Arial"/>
                <a:ea typeface="Arial"/>
                <a:cs typeface="Arial"/>
                <a:sym typeface="Arial"/>
              </a:rPr>
              <a:t>Continuous monitoring.</a:t>
            </a:r>
            <a:endParaRPr sz="1100">
              <a:solidFill>
                <a:srgbClr val="262530"/>
              </a:solidFill>
              <a:highlight>
                <a:srgbClr val="FFFFFF"/>
              </a:highlight>
              <a:latin typeface="Arial"/>
              <a:ea typeface="Arial"/>
              <a:cs typeface="Arial"/>
              <a:sym typeface="Arial"/>
            </a:endParaRPr>
          </a:p>
        </p:txBody>
      </p:sp>
      <p:pic>
        <p:nvPicPr>
          <p:cNvPr id="266" name="Google Shape;266;p34"/>
          <p:cNvPicPr preferRelativeResize="0"/>
          <p:nvPr/>
        </p:nvPicPr>
        <p:blipFill rotWithShape="1">
          <a:blip r:embed="rId3">
            <a:alphaModFix/>
          </a:blip>
          <a:srcRect b="0" l="0" r="-6090" t="23160"/>
          <a:stretch/>
        </p:blipFill>
        <p:spPr>
          <a:xfrm>
            <a:off x="4192000" y="1392588"/>
            <a:ext cx="5039675" cy="2594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5"/>
          <p:cNvSpPr txBox="1"/>
          <p:nvPr>
            <p:ph idx="1" type="body"/>
          </p:nvPr>
        </p:nvSpPr>
        <p:spPr>
          <a:xfrm>
            <a:off x="2400297" y="1602675"/>
            <a:ext cx="6375300" cy="3002400"/>
          </a:xfrm>
          <a:prstGeom prst="rect">
            <a:avLst/>
          </a:prstGeom>
        </p:spPr>
        <p:txBody>
          <a:bodyPr anchorCtr="0" anchor="t" bIns="91425" lIns="91425" spcFirstLastPara="1" rIns="91425" wrap="square" tIns="91425">
            <a:noAutofit/>
          </a:bodyPr>
          <a:lstStyle/>
          <a:p>
            <a:pPr indent="-298450" lvl="0" marL="457200" rtl="0" algn="l">
              <a:lnSpc>
                <a:spcPct val="150000"/>
              </a:lnSpc>
              <a:spcBef>
                <a:spcPts val="1200"/>
              </a:spcBef>
              <a:spcAft>
                <a:spcPts val="0"/>
              </a:spcAft>
              <a:buSzPts val="1100"/>
              <a:buFont typeface="Arial"/>
              <a:buChar char="●"/>
            </a:pPr>
            <a:r>
              <a:rPr b="1" lang="en" sz="1100">
                <a:latin typeface="Arial"/>
                <a:ea typeface="Arial"/>
                <a:cs typeface="Arial"/>
                <a:sym typeface="Arial"/>
              </a:rPr>
              <a:t>Protect Critical Assets</a:t>
            </a:r>
            <a:endParaRPr b="1"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Safeguard data, IP, and IT systems.</a:t>
            </a:r>
            <a:endParaRPr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Use antivirus, firewalls, IDS/IPS, SIEM, and regular patches.</a:t>
            </a:r>
            <a:endParaRPr sz="1100">
              <a:latin typeface="Arial"/>
              <a:ea typeface="Arial"/>
              <a:cs typeface="Arial"/>
              <a:sym typeface="Arial"/>
            </a:endParaRPr>
          </a:p>
          <a:p>
            <a:pPr indent="-298450" lvl="0" marL="457200" rtl="0" algn="l">
              <a:lnSpc>
                <a:spcPct val="150000"/>
              </a:lnSpc>
              <a:spcBef>
                <a:spcPts val="0"/>
              </a:spcBef>
              <a:spcAft>
                <a:spcPts val="0"/>
              </a:spcAft>
              <a:buSzPts val="1100"/>
              <a:buFont typeface="Arial"/>
              <a:buChar char="●"/>
            </a:pPr>
            <a:r>
              <a:rPr b="1" lang="en" sz="1100">
                <a:latin typeface="Arial"/>
                <a:ea typeface="Arial"/>
                <a:cs typeface="Arial"/>
                <a:sym typeface="Arial"/>
              </a:rPr>
              <a:t>Ensure Business Continuity</a:t>
            </a:r>
            <a:endParaRPr b="1"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Maintain secure operations with robust defenses.</a:t>
            </a:r>
            <a:endParaRPr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Regularly update and configure systems.</a:t>
            </a:r>
            <a:endParaRPr sz="1100">
              <a:latin typeface="Arial"/>
              <a:ea typeface="Arial"/>
              <a:cs typeface="Arial"/>
              <a:sym typeface="Arial"/>
            </a:endParaRPr>
          </a:p>
          <a:p>
            <a:pPr indent="-298450" lvl="0" marL="457200" rtl="0" algn="l">
              <a:lnSpc>
                <a:spcPct val="150000"/>
              </a:lnSpc>
              <a:spcBef>
                <a:spcPts val="0"/>
              </a:spcBef>
              <a:spcAft>
                <a:spcPts val="0"/>
              </a:spcAft>
              <a:buSzPts val="1100"/>
              <a:buFont typeface="Arial"/>
              <a:buChar char="●"/>
            </a:pPr>
            <a:r>
              <a:rPr b="1" lang="en" sz="1100">
                <a:latin typeface="Arial"/>
                <a:ea typeface="Arial"/>
                <a:cs typeface="Arial"/>
                <a:sym typeface="Arial"/>
              </a:rPr>
              <a:t>Ensure Regulatory Compliance</a:t>
            </a:r>
            <a:endParaRPr b="1"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Establish GRC team for audits and compliance.</a:t>
            </a:r>
            <a:endParaRPr sz="1100">
              <a:latin typeface="Arial"/>
              <a:ea typeface="Arial"/>
              <a:cs typeface="Arial"/>
              <a:sym typeface="Arial"/>
            </a:endParaRPr>
          </a:p>
          <a:p>
            <a:pPr indent="-298450" lvl="0" marL="457200" rtl="0" algn="l">
              <a:lnSpc>
                <a:spcPct val="150000"/>
              </a:lnSpc>
              <a:spcBef>
                <a:spcPts val="0"/>
              </a:spcBef>
              <a:spcAft>
                <a:spcPts val="0"/>
              </a:spcAft>
              <a:buSzPts val="1100"/>
              <a:buFont typeface="Arial"/>
              <a:buChar char="●"/>
            </a:pPr>
            <a:r>
              <a:rPr b="1" lang="en" sz="1100">
                <a:latin typeface="Arial"/>
                <a:ea typeface="Arial"/>
                <a:cs typeface="Arial"/>
                <a:sym typeface="Arial"/>
              </a:rPr>
              <a:t>Enhance Customer Trust</a:t>
            </a:r>
            <a:endParaRPr b="1"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Share security updates in reports and newsletters.</a:t>
            </a:r>
            <a:endParaRPr sz="1100">
              <a:latin typeface="Arial"/>
              <a:ea typeface="Arial"/>
              <a:cs typeface="Arial"/>
              <a:sym typeface="Arial"/>
            </a:endParaRPr>
          </a:p>
          <a:p>
            <a:pPr indent="-298450" lvl="1" marL="914400" rtl="0" algn="l">
              <a:lnSpc>
                <a:spcPct val="150000"/>
              </a:lnSpc>
              <a:spcBef>
                <a:spcPts val="0"/>
              </a:spcBef>
              <a:spcAft>
                <a:spcPts val="0"/>
              </a:spcAft>
              <a:buSzPts val="1100"/>
              <a:buFont typeface="Arial"/>
              <a:buChar char="○"/>
            </a:pPr>
            <a:r>
              <a:rPr lang="en" sz="1100">
                <a:latin typeface="Arial"/>
                <a:ea typeface="Arial"/>
                <a:cs typeface="Arial"/>
                <a:sym typeface="Arial"/>
              </a:rPr>
              <a:t>Promote privacy measures like MFA and customer education.</a:t>
            </a:r>
            <a:endParaRPr sz="1100">
              <a:latin typeface="Arial"/>
              <a:ea typeface="Arial"/>
              <a:cs typeface="Arial"/>
              <a:sym typeface="Arial"/>
            </a:endParaRPr>
          </a:p>
        </p:txBody>
      </p:sp>
      <p:sp>
        <p:nvSpPr>
          <p:cNvPr id="272" name="Google Shape;272;p3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6"/>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Challenges</a:t>
            </a:r>
            <a:endParaRPr/>
          </a:p>
        </p:txBody>
      </p:sp>
      <p:sp>
        <p:nvSpPr>
          <p:cNvPr id="278" name="Google Shape;278;p36"/>
          <p:cNvSpPr txBox="1"/>
          <p:nvPr/>
        </p:nvSpPr>
        <p:spPr>
          <a:xfrm>
            <a:off x="4858900" y="639900"/>
            <a:ext cx="4045200" cy="3863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Delay in ordering hardware and software</a:t>
            </a:r>
            <a:endParaRPr sz="1800">
              <a:solidFill>
                <a:srgbClr val="FFFFFF"/>
              </a:solidFill>
              <a:latin typeface="Lato"/>
              <a:ea typeface="Lato"/>
              <a:cs typeface="Lato"/>
              <a:sym typeface="Lato"/>
            </a:endParaRPr>
          </a:p>
          <a:p>
            <a:pPr indent="0" lvl="0" marL="0" rtl="0" algn="l">
              <a:spcBef>
                <a:spcPts val="0"/>
              </a:spcBef>
              <a:spcAft>
                <a:spcPts val="0"/>
              </a:spcAft>
              <a:buNone/>
            </a:pPr>
            <a:r>
              <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Insufficient Licenses for software</a:t>
            </a:r>
            <a:endParaRPr sz="1800">
              <a:solidFill>
                <a:srgbClr val="FFFFFF"/>
              </a:solidFill>
              <a:latin typeface="Lato"/>
              <a:ea typeface="Lato"/>
              <a:cs typeface="Lato"/>
              <a:sym typeface="Lato"/>
            </a:endParaRPr>
          </a:p>
          <a:p>
            <a:pPr indent="0" lvl="0" marL="0" rtl="0" algn="l">
              <a:spcBef>
                <a:spcPts val="0"/>
              </a:spcBef>
              <a:spcAft>
                <a:spcPts val="0"/>
              </a:spcAft>
              <a:buNone/>
            </a:pPr>
            <a:r>
              <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Overlooked patches to software</a:t>
            </a:r>
            <a:endParaRPr sz="1800">
              <a:solidFill>
                <a:srgbClr val="FFFFFF"/>
              </a:solidFill>
              <a:latin typeface="Lato"/>
              <a:ea typeface="Lato"/>
              <a:cs typeface="Lato"/>
              <a:sym typeface="Lato"/>
            </a:endParaRPr>
          </a:p>
          <a:p>
            <a:pPr indent="0" lvl="0" marL="0" rtl="0" algn="l">
              <a:spcBef>
                <a:spcPts val="0"/>
              </a:spcBef>
              <a:spcAft>
                <a:spcPts val="0"/>
              </a:spcAft>
              <a:buNone/>
            </a:pPr>
            <a:r>
              <a:t/>
            </a:r>
            <a:endParaRPr sz="1800">
              <a:solidFill>
                <a:srgbClr val="FFFFFF"/>
              </a:solidFill>
              <a:latin typeface="Lato"/>
              <a:ea typeface="Lato"/>
              <a:cs typeface="Lato"/>
              <a:sym typeface="Lato"/>
            </a:endParaRPr>
          </a:p>
          <a:p>
            <a:pPr indent="-342900" lvl="0" marL="457200" rtl="0" algn="l">
              <a:spcBef>
                <a:spcPts val="0"/>
              </a:spcBef>
              <a:spcAft>
                <a:spcPts val="0"/>
              </a:spcAft>
              <a:buClr>
                <a:srgbClr val="FFFFFF"/>
              </a:buClr>
              <a:buSzPts val="1800"/>
              <a:buFont typeface="Lato"/>
              <a:buChar char="●"/>
            </a:pPr>
            <a:r>
              <a:rPr lang="en" sz="1800">
                <a:solidFill>
                  <a:srgbClr val="FFFFFF"/>
                </a:solidFill>
                <a:latin typeface="Lato"/>
                <a:ea typeface="Lato"/>
                <a:cs typeface="Lato"/>
                <a:sym typeface="Lato"/>
              </a:rPr>
              <a:t>Phase 2 depends on Phase 1. If work becomes blocked during that phase, the timeline may be longer than originally planned.</a:t>
            </a:r>
            <a:endParaRPr sz="1800">
              <a:solidFill>
                <a:srgbClr val="FFFFFF"/>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ybersecurity Consulting Report Infographics by Slidesgo">
  <a:themeElements>
    <a:clrScheme name="Simple Light">
      <a:dk1>
        <a:srgbClr val="000000"/>
      </a:dk1>
      <a:lt1>
        <a:srgbClr val="FFFFFF"/>
      </a:lt1>
      <a:dk2>
        <a:srgbClr val="F7B800"/>
      </a:dk2>
      <a:lt2>
        <a:srgbClr val="00BE83"/>
      </a:lt2>
      <a:accent1>
        <a:srgbClr val="00ACF1"/>
      </a:accent1>
      <a:accent2>
        <a:srgbClr val="FC2929"/>
      </a:accent2>
      <a:accent3>
        <a:srgbClr val="0765A5"/>
      </a:accent3>
      <a:accent4>
        <a:srgbClr val="F3F3F3"/>
      </a:accent4>
      <a:accent5>
        <a:srgbClr val="7D37C5"/>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